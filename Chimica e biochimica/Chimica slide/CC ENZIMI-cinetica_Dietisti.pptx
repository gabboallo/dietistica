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37" r:id="rId2"/>
    <p:sldId id="263" r:id="rId3"/>
    <p:sldId id="311" r:id="rId4"/>
    <p:sldId id="319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20" r:id="rId13"/>
    <p:sldId id="321" r:id="rId14"/>
    <p:sldId id="306" r:id="rId15"/>
    <p:sldId id="307" r:id="rId16"/>
    <p:sldId id="308" r:id="rId17"/>
    <p:sldId id="309" r:id="rId18"/>
    <p:sldId id="310" r:id="rId19"/>
    <p:sldId id="286" r:id="rId20"/>
    <p:sldId id="290" r:id="rId21"/>
    <p:sldId id="279" r:id="rId22"/>
    <p:sldId id="338" r:id="rId23"/>
    <p:sldId id="270" r:id="rId24"/>
    <p:sldId id="271" r:id="rId25"/>
    <p:sldId id="272" r:id="rId26"/>
    <p:sldId id="322" r:id="rId27"/>
    <p:sldId id="260" r:id="rId28"/>
    <p:sldId id="323" r:id="rId29"/>
    <p:sldId id="300" r:id="rId30"/>
    <p:sldId id="275" r:id="rId31"/>
    <p:sldId id="273" r:id="rId32"/>
    <p:sldId id="283" r:id="rId33"/>
    <p:sldId id="274" r:id="rId34"/>
    <p:sldId id="284" r:id="rId35"/>
    <p:sldId id="324" r:id="rId36"/>
    <p:sldId id="325" r:id="rId37"/>
    <p:sldId id="259" r:id="rId38"/>
    <p:sldId id="276" r:id="rId39"/>
    <p:sldId id="326" r:id="rId40"/>
    <p:sldId id="277" r:id="rId41"/>
    <p:sldId id="295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4"/>
  </p:normalViewPr>
  <p:slideViewPr>
    <p:cSldViewPr>
      <p:cViewPr varScale="1">
        <p:scale>
          <a:sx n="105" d="100"/>
          <a:sy n="105" d="100"/>
        </p:scale>
        <p:origin x="184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1AB5F0E-8946-EE92-C39A-8831C32154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26D86ED-F2C3-F311-B823-92A1B32AA9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846EDDF-7427-09C2-6CB9-B913908693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6B39538B-B000-9CF3-48CB-983BF9F619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4F985C61-7461-E3BA-9F12-EB1A1CF2C6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4B7CF2C0-0FA3-2E6A-3E3D-1446152C2A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</a:defRPr>
            </a:lvl1pPr>
          </a:lstStyle>
          <a:p>
            <a:pPr>
              <a:defRPr/>
            </a:pPr>
            <a:fld id="{BF73F56E-B139-E847-B9BA-82EF0D0F9D7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EC90DF2-A406-E6A2-DE8F-1B196A06B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C734AAD-7031-B9EF-81ED-A2F3601CE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0EF4E-65B8-1462-9A38-6945634C7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B9D132BE-5490-8E44-99F1-6A335C117BB4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6565CD61-D732-C95B-AF9E-B5AFCF4612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B858C563-1F7C-A936-44CB-121970E16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4308" name="Slide Number Placeholder 3">
            <a:extLst>
              <a:ext uri="{FF2B5EF4-FFF2-40B4-BE49-F238E27FC236}">
                <a16:creationId xmlns:a16="http://schemas.microsoft.com/office/drawing/2014/main" id="{49604E76-489E-7A47-C2E2-B8CF90AB0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14EF41B3-5C52-8A4B-A371-1E4A19B0F838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25804D86-6BCE-83D6-29C2-85AED911D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2B7667C8-DBBA-4867-1707-CE4957AE7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5E025-13B6-A32D-2AF6-919BCD210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5B69677-233A-AF42-B836-F1C79A206522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E49073ED-EB34-99C8-34B8-0A70C0D65A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>
            <a:extLst>
              <a:ext uri="{FF2B5EF4-FFF2-40B4-BE49-F238E27FC236}">
                <a16:creationId xmlns:a16="http://schemas.microsoft.com/office/drawing/2014/main" id="{8ACAB412-7BC1-7FE9-56FF-36015A697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5332" name="Slide Number Placeholder 3">
            <a:extLst>
              <a:ext uri="{FF2B5EF4-FFF2-40B4-BE49-F238E27FC236}">
                <a16:creationId xmlns:a16="http://schemas.microsoft.com/office/drawing/2014/main" id="{B5D0CAF2-B998-08D7-F605-7C1FE0430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031ACA6C-64CE-4B4B-8BF1-CE32DFD71D27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5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>
            <a:extLst>
              <a:ext uri="{FF2B5EF4-FFF2-40B4-BE49-F238E27FC236}">
                <a16:creationId xmlns:a16="http://schemas.microsoft.com/office/drawing/2014/main" id="{ACBE5A74-861F-FFF6-8335-8647B5F6D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>
            <a:extLst>
              <a:ext uri="{FF2B5EF4-FFF2-40B4-BE49-F238E27FC236}">
                <a16:creationId xmlns:a16="http://schemas.microsoft.com/office/drawing/2014/main" id="{FF4609FB-11C7-2573-D28F-20ED038E8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6356" name="Slide Number Placeholder 3">
            <a:extLst>
              <a:ext uri="{FF2B5EF4-FFF2-40B4-BE49-F238E27FC236}">
                <a16:creationId xmlns:a16="http://schemas.microsoft.com/office/drawing/2014/main" id="{B1EB7D4C-5945-FF83-9539-4CAF52D10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6C9F9D8-F102-1143-8DD5-42C49F44FF02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6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8AE75192-ECF8-B642-96D4-2F035CF3D9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3806A51B-B734-5A85-CD33-819DBEDFB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7380" name="Slide Number Placeholder 3">
            <a:extLst>
              <a:ext uri="{FF2B5EF4-FFF2-40B4-BE49-F238E27FC236}">
                <a16:creationId xmlns:a16="http://schemas.microsoft.com/office/drawing/2014/main" id="{CFF3FCE0-E929-68BA-D681-F13538811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A5F4E70-338E-7347-A723-3B3691420716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7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>
            <a:extLst>
              <a:ext uri="{FF2B5EF4-FFF2-40B4-BE49-F238E27FC236}">
                <a16:creationId xmlns:a16="http://schemas.microsoft.com/office/drawing/2014/main" id="{A6387551-D647-53CE-D0CB-42D8BA5B8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>
            <a:extLst>
              <a:ext uri="{FF2B5EF4-FFF2-40B4-BE49-F238E27FC236}">
                <a16:creationId xmlns:a16="http://schemas.microsoft.com/office/drawing/2014/main" id="{FF06A8DD-BB5A-EEDC-9C90-469297F3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8404" name="Slide Number Placeholder 3">
            <a:extLst>
              <a:ext uri="{FF2B5EF4-FFF2-40B4-BE49-F238E27FC236}">
                <a16:creationId xmlns:a16="http://schemas.microsoft.com/office/drawing/2014/main" id="{F32DF319-50CA-A305-67FA-067E03AA4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35C6C7BB-A0D8-8847-93FF-14F6C2E75B7B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8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>
            <a:extLst>
              <a:ext uri="{FF2B5EF4-FFF2-40B4-BE49-F238E27FC236}">
                <a16:creationId xmlns:a16="http://schemas.microsoft.com/office/drawing/2014/main" id="{C9130FF4-2AC7-078F-C102-221DC56F4B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Notes Placeholder 2">
            <a:extLst>
              <a:ext uri="{FF2B5EF4-FFF2-40B4-BE49-F238E27FC236}">
                <a16:creationId xmlns:a16="http://schemas.microsoft.com/office/drawing/2014/main" id="{DC547E30-6583-FBDA-E5F1-330D1654B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9428" name="Slide Number Placeholder 3">
            <a:extLst>
              <a:ext uri="{FF2B5EF4-FFF2-40B4-BE49-F238E27FC236}">
                <a16:creationId xmlns:a16="http://schemas.microsoft.com/office/drawing/2014/main" id="{E87AB440-9A81-6EE9-6D13-E05504C85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FDDA99D-FF41-3645-9378-B069582A019E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9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111782F2-B843-FDEF-917F-8E4700595E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DFED9351-22E6-5A02-B878-D54603BBA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0452" name="Slide Number Placeholder 3">
            <a:extLst>
              <a:ext uri="{FF2B5EF4-FFF2-40B4-BE49-F238E27FC236}">
                <a16:creationId xmlns:a16="http://schemas.microsoft.com/office/drawing/2014/main" id="{A8869CFC-C971-80B3-FAB2-4146E2B51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0A73BA10-A142-0843-9907-ABC86C48FC9D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10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C61A9292-677E-4BE7-07BC-AE7738702B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AEF33D1F-3C19-B311-4129-CE5434247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1476" name="Slide Number Placeholder 3">
            <a:extLst>
              <a:ext uri="{FF2B5EF4-FFF2-40B4-BE49-F238E27FC236}">
                <a16:creationId xmlns:a16="http://schemas.microsoft.com/office/drawing/2014/main" id="{65C74AFE-366F-2711-5FF0-58965A74F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E2FD986E-3FBD-894B-997E-5F3D0A9724FA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11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6CA1EE15-AC6B-F3E9-10DC-C8923963ED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00D1D6C2-5214-354D-1F74-1AD6E232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02233-C5EF-E1D2-D3C5-C98AA376B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CDF1CA0A-4483-2B4B-A2DC-00B1A903B30C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12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EC4A256F-58B7-FD18-8BF7-1A9FE5FBD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1BA718DB-0194-115F-037E-88D7A861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20A23-A7A9-5B1F-041F-E536F019E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4A6E708-6A4D-6647-B312-CA8710502B51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13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>
            <a:extLst>
              <a:ext uri="{FF2B5EF4-FFF2-40B4-BE49-F238E27FC236}">
                <a16:creationId xmlns:a16="http://schemas.microsoft.com/office/drawing/2014/main" id="{D8CD4705-EBF5-70D4-8E52-703787377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>
            <a:extLst>
              <a:ext uri="{FF2B5EF4-FFF2-40B4-BE49-F238E27FC236}">
                <a16:creationId xmlns:a16="http://schemas.microsoft.com/office/drawing/2014/main" id="{6921BAFF-E454-7849-37F6-2352ACC99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49188" name="Slide Number Placeholder 3">
            <a:extLst>
              <a:ext uri="{FF2B5EF4-FFF2-40B4-BE49-F238E27FC236}">
                <a16:creationId xmlns:a16="http://schemas.microsoft.com/office/drawing/2014/main" id="{3C7E811E-D672-4D5C-9F3D-702AA0C99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268D3C5-1F3F-7144-B177-E6B981E64EA0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14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:a16="http://schemas.microsoft.com/office/drawing/2014/main" id="{D7DD28F1-8707-906F-BAB4-FB939F51B7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Notes Placeholder 2">
            <a:extLst>
              <a:ext uri="{FF2B5EF4-FFF2-40B4-BE49-F238E27FC236}">
                <a16:creationId xmlns:a16="http://schemas.microsoft.com/office/drawing/2014/main" id="{0954E22A-869A-58B1-294E-D95DC210F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0212" name="Slide Number Placeholder 3">
            <a:extLst>
              <a:ext uri="{FF2B5EF4-FFF2-40B4-BE49-F238E27FC236}">
                <a16:creationId xmlns:a16="http://schemas.microsoft.com/office/drawing/2014/main" id="{817FC9DF-9C0C-D940-FA41-1C80A8B36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370E12E1-ECE4-E74C-99B2-B36996C9C8D3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15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>
            <a:extLst>
              <a:ext uri="{FF2B5EF4-FFF2-40B4-BE49-F238E27FC236}">
                <a16:creationId xmlns:a16="http://schemas.microsoft.com/office/drawing/2014/main" id="{4410C735-B19D-81AB-913F-095206C1F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>
            <a:extLst>
              <a:ext uri="{FF2B5EF4-FFF2-40B4-BE49-F238E27FC236}">
                <a16:creationId xmlns:a16="http://schemas.microsoft.com/office/drawing/2014/main" id="{3CE38066-5BEF-21A3-1D5C-2B51BC6CF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1236" name="Slide Number Placeholder 3">
            <a:extLst>
              <a:ext uri="{FF2B5EF4-FFF2-40B4-BE49-F238E27FC236}">
                <a16:creationId xmlns:a16="http://schemas.microsoft.com/office/drawing/2014/main" id="{BC7D56F5-E270-B8CF-F684-28C42F64C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00CFA251-EB3C-3B45-B53B-3C81F11443F2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16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>
            <a:extLst>
              <a:ext uri="{FF2B5EF4-FFF2-40B4-BE49-F238E27FC236}">
                <a16:creationId xmlns:a16="http://schemas.microsoft.com/office/drawing/2014/main" id="{3BA2B5F1-5B6E-F4BF-F163-48C3BDB3DF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Notes Placeholder 2">
            <a:extLst>
              <a:ext uri="{FF2B5EF4-FFF2-40B4-BE49-F238E27FC236}">
                <a16:creationId xmlns:a16="http://schemas.microsoft.com/office/drawing/2014/main" id="{6A1E149B-2F7B-AFD9-0F1E-67A288464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2260" name="Slide Number Placeholder 3">
            <a:extLst>
              <a:ext uri="{FF2B5EF4-FFF2-40B4-BE49-F238E27FC236}">
                <a16:creationId xmlns:a16="http://schemas.microsoft.com/office/drawing/2014/main" id="{9B53951B-A22B-9847-9B9E-0218B5FF6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60CA907E-714E-224A-9F3A-1450BD847484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17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>
            <a:extLst>
              <a:ext uri="{FF2B5EF4-FFF2-40B4-BE49-F238E27FC236}">
                <a16:creationId xmlns:a16="http://schemas.microsoft.com/office/drawing/2014/main" id="{A264F7FF-7355-0DFF-9CB6-6635493DA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Notes Placeholder 2">
            <a:extLst>
              <a:ext uri="{FF2B5EF4-FFF2-40B4-BE49-F238E27FC236}">
                <a16:creationId xmlns:a16="http://schemas.microsoft.com/office/drawing/2014/main" id="{510385BD-F043-7C40-E516-F875DCEF9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53284" name="Slide Number Placeholder 3">
            <a:extLst>
              <a:ext uri="{FF2B5EF4-FFF2-40B4-BE49-F238E27FC236}">
                <a16:creationId xmlns:a16="http://schemas.microsoft.com/office/drawing/2014/main" id="{7F463923-661F-7B53-F98D-F14CCB072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29A2C320-7771-E148-AA29-173B5EDD2B65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18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EB5BA647-AF9F-B04C-46D3-9699E5E6F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2C9016A2-0F04-BD32-0E23-DC53556F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FF37C-7D4D-BE5E-FCE4-DCF354197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89074EAA-E34E-8543-B5FA-62872B8E93DB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19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>
            <a:extLst>
              <a:ext uri="{FF2B5EF4-FFF2-40B4-BE49-F238E27FC236}">
                <a16:creationId xmlns:a16="http://schemas.microsoft.com/office/drawing/2014/main" id="{2B0A7946-9C22-FCE7-8996-8224551B4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Notes Placeholder 2">
            <a:extLst>
              <a:ext uri="{FF2B5EF4-FFF2-40B4-BE49-F238E27FC236}">
                <a16:creationId xmlns:a16="http://schemas.microsoft.com/office/drawing/2014/main" id="{B42A923C-33A8-2275-9214-31E5661D4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40C5C-4671-1E54-DFC0-B9428BFC2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5D0A1E7-6893-434C-97A0-B57B8401D1C7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20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>
            <a:extLst>
              <a:ext uri="{FF2B5EF4-FFF2-40B4-BE49-F238E27FC236}">
                <a16:creationId xmlns:a16="http://schemas.microsoft.com/office/drawing/2014/main" id="{7C00E5C7-C2A6-3432-236C-0CE1D86C68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>
            <a:extLst>
              <a:ext uri="{FF2B5EF4-FFF2-40B4-BE49-F238E27FC236}">
                <a16:creationId xmlns:a16="http://schemas.microsoft.com/office/drawing/2014/main" id="{DE73BCAC-2302-6DA9-05B6-DD3242910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818E2-7D3C-E2D6-3D1F-062AE1D44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29C50E82-A261-2C4B-8C7D-8B50EF355889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21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>
            <a:extLst>
              <a:ext uri="{FF2B5EF4-FFF2-40B4-BE49-F238E27FC236}">
                <a16:creationId xmlns:a16="http://schemas.microsoft.com/office/drawing/2014/main" id="{5773567A-F5B4-44A0-5BF6-B158105BC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Notes Placeholder 2">
            <a:extLst>
              <a:ext uri="{FF2B5EF4-FFF2-40B4-BE49-F238E27FC236}">
                <a16:creationId xmlns:a16="http://schemas.microsoft.com/office/drawing/2014/main" id="{71FB1B1E-906C-728B-456E-A6FC7D4B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F83BF-D27D-6BF6-E0DA-C88141D95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84D6BEF0-5786-2843-8B57-C70B5017B31D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22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>
            <a:extLst>
              <a:ext uri="{FF2B5EF4-FFF2-40B4-BE49-F238E27FC236}">
                <a16:creationId xmlns:a16="http://schemas.microsoft.com/office/drawing/2014/main" id="{0F1BCBFC-2AB9-E0F3-6ABF-FE3A6176D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>
            <a:extLst>
              <a:ext uri="{FF2B5EF4-FFF2-40B4-BE49-F238E27FC236}">
                <a16:creationId xmlns:a16="http://schemas.microsoft.com/office/drawing/2014/main" id="{A9C110E9-33F0-433B-CBD1-DBB7CB151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0726F-256D-7486-D3ED-44B035118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6E0DF195-6A48-6A4F-8AE4-D2FE548011B8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23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>
            <a:extLst>
              <a:ext uri="{FF2B5EF4-FFF2-40B4-BE49-F238E27FC236}">
                <a16:creationId xmlns:a16="http://schemas.microsoft.com/office/drawing/2014/main" id="{6DCEAE4E-D051-83D3-5EE6-9AA8218C28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>
            <a:extLst>
              <a:ext uri="{FF2B5EF4-FFF2-40B4-BE49-F238E27FC236}">
                <a16:creationId xmlns:a16="http://schemas.microsoft.com/office/drawing/2014/main" id="{76E978C9-D011-F655-892A-C689793F9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50E65-8443-CE23-057D-56932EFAA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4E51DDC-3A18-3B42-870D-807810BBF472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24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>
            <a:extLst>
              <a:ext uri="{FF2B5EF4-FFF2-40B4-BE49-F238E27FC236}">
                <a16:creationId xmlns:a16="http://schemas.microsoft.com/office/drawing/2014/main" id="{5A02A59A-B83F-7BC9-65DE-4453C9A0FF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>
            <a:extLst>
              <a:ext uri="{FF2B5EF4-FFF2-40B4-BE49-F238E27FC236}">
                <a16:creationId xmlns:a16="http://schemas.microsoft.com/office/drawing/2014/main" id="{880157C3-2558-B9C3-1AF1-EA7A1F273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6575A-A9E4-361E-8139-FD2FE0F19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B625715D-A077-474B-8B86-1918A0118EA9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25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>
            <a:extLst>
              <a:ext uri="{FF2B5EF4-FFF2-40B4-BE49-F238E27FC236}">
                <a16:creationId xmlns:a16="http://schemas.microsoft.com/office/drawing/2014/main" id="{68BFFB98-926C-C06E-8766-FE3D361BD0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>
            <a:extLst>
              <a:ext uri="{FF2B5EF4-FFF2-40B4-BE49-F238E27FC236}">
                <a16:creationId xmlns:a16="http://schemas.microsoft.com/office/drawing/2014/main" id="{16710763-8836-7370-F0C2-D847CC98A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3524" name="Slide Number Placeholder 3">
            <a:extLst>
              <a:ext uri="{FF2B5EF4-FFF2-40B4-BE49-F238E27FC236}">
                <a16:creationId xmlns:a16="http://schemas.microsoft.com/office/drawing/2014/main" id="{EB36E911-94D0-4E99-23DF-15FDE2EA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D248424-4685-9B4B-9E69-81292F0C296C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26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>
            <a:extLst>
              <a:ext uri="{FF2B5EF4-FFF2-40B4-BE49-F238E27FC236}">
                <a16:creationId xmlns:a16="http://schemas.microsoft.com/office/drawing/2014/main" id="{8CCD2543-A7F4-9BDC-177D-63D6C57CD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>
            <a:extLst>
              <a:ext uri="{FF2B5EF4-FFF2-40B4-BE49-F238E27FC236}">
                <a16:creationId xmlns:a16="http://schemas.microsoft.com/office/drawing/2014/main" id="{973A2715-F693-4076-39CE-514F0EF0E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4557F-21C5-CC8A-7BAA-264249A0A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5699950-E08A-7B42-A286-97E3C97BC312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27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>
            <a:extLst>
              <a:ext uri="{FF2B5EF4-FFF2-40B4-BE49-F238E27FC236}">
                <a16:creationId xmlns:a16="http://schemas.microsoft.com/office/drawing/2014/main" id="{10F19E7F-E666-5384-9D76-432B77729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>
            <a:extLst>
              <a:ext uri="{FF2B5EF4-FFF2-40B4-BE49-F238E27FC236}">
                <a16:creationId xmlns:a16="http://schemas.microsoft.com/office/drawing/2014/main" id="{2878D1AA-F2CE-F79E-C804-DAD3C2EB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4548" name="Slide Number Placeholder 3">
            <a:extLst>
              <a:ext uri="{FF2B5EF4-FFF2-40B4-BE49-F238E27FC236}">
                <a16:creationId xmlns:a16="http://schemas.microsoft.com/office/drawing/2014/main" id="{E0C37ED5-05A8-C3FE-4257-47E2B3C34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80920AD4-D336-9E49-A7D7-4EC7C0F064FF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28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>
            <a:extLst>
              <a:ext uri="{FF2B5EF4-FFF2-40B4-BE49-F238E27FC236}">
                <a16:creationId xmlns:a16="http://schemas.microsoft.com/office/drawing/2014/main" id="{0046F109-8DF0-066C-46CC-53B05AEE87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Notes Placeholder 2">
            <a:extLst>
              <a:ext uri="{FF2B5EF4-FFF2-40B4-BE49-F238E27FC236}">
                <a16:creationId xmlns:a16="http://schemas.microsoft.com/office/drawing/2014/main" id="{769B3797-7E4A-D5B8-112B-A39FAF632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BC95-1E74-A499-E9B7-4195D8C79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D3EF99E-55D2-C944-9985-D9A7789A2C72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29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>
            <a:extLst>
              <a:ext uri="{FF2B5EF4-FFF2-40B4-BE49-F238E27FC236}">
                <a16:creationId xmlns:a16="http://schemas.microsoft.com/office/drawing/2014/main" id="{E03217C1-AFA7-7AAD-D1BC-A80241AF9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8" name="Notes Placeholder 2">
            <a:extLst>
              <a:ext uri="{FF2B5EF4-FFF2-40B4-BE49-F238E27FC236}">
                <a16:creationId xmlns:a16="http://schemas.microsoft.com/office/drawing/2014/main" id="{B6BA5107-B3BB-1111-3DD9-27BFF89F2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55AB5-D5F9-A1BB-0414-F15E1E8BC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DEFFFB6-10F6-434C-A53C-D5713B3A3DBE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30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>
            <a:extLst>
              <a:ext uri="{FF2B5EF4-FFF2-40B4-BE49-F238E27FC236}">
                <a16:creationId xmlns:a16="http://schemas.microsoft.com/office/drawing/2014/main" id="{7FE1EFAD-BCB5-B21B-6A24-FACDFB1DC0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Notes Placeholder 2">
            <a:extLst>
              <a:ext uri="{FF2B5EF4-FFF2-40B4-BE49-F238E27FC236}">
                <a16:creationId xmlns:a16="http://schemas.microsoft.com/office/drawing/2014/main" id="{E0103983-C601-3187-B044-19B712B2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4D107-A2A9-9354-B75D-049B325A2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B4ABAF5F-10F7-9849-A556-F603D955ACF8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31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>
            <a:extLst>
              <a:ext uri="{FF2B5EF4-FFF2-40B4-BE49-F238E27FC236}">
                <a16:creationId xmlns:a16="http://schemas.microsoft.com/office/drawing/2014/main" id="{79087A8E-66E1-4EE1-9890-6D58905440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Notes Placeholder 2">
            <a:extLst>
              <a:ext uri="{FF2B5EF4-FFF2-40B4-BE49-F238E27FC236}">
                <a16:creationId xmlns:a16="http://schemas.microsoft.com/office/drawing/2014/main" id="{C5AD9325-4192-41E8-54E7-0DA1897CB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A3EF2-3546-D765-4B6A-AC5661045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0B725BB-8536-7D43-87DC-BC1786DB7682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32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>
            <a:extLst>
              <a:ext uri="{FF2B5EF4-FFF2-40B4-BE49-F238E27FC236}">
                <a16:creationId xmlns:a16="http://schemas.microsoft.com/office/drawing/2014/main" id="{E3299486-5965-4E09-C4ED-84F808FD1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2" name="Notes Placeholder 2">
            <a:extLst>
              <a:ext uri="{FF2B5EF4-FFF2-40B4-BE49-F238E27FC236}">
                <a16:creationId xmlns:a16="http://schemas.microsoft.com/office/drawing/2014/main" id="{C0FC9B92-8A66-D95D-D458-2845B112C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0877A-A077-855D-500C-52238220D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2C5B245-FA47-6541-8554-6CD18740E585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33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>
            <a:extLst>
              <a:ext uri="{FF2B5EF4-FFF2-40B4-BE49-F238E27FC236}">
                <a16:creationId xmlns:a16="http://schemas.microsoft.com/office/drawing/2014/main" id="{515501B0-8A97-3E5D-F789-1FD8C6A3E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0" name="Notes Placeholder 2">
            <a:extLst>
              <a:ext uri="{FF2B5EF4-FFF2-40B4-BE49-F238E27FC236}">
                <a16:creationId xmlns:a16="http://schemas.microsoft.com/office/drawing/2014/main" id="{ED67D73E-311E-97EC-C9CB-97C8CF56B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50264-E773-D1F7-B2BC-FAC29EF0D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082525C-7241-AE46-A4B5-A45370F86642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34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>
            <a:extLst>
              <a:ext uri="{FF2B5EF4-FFF2-40B4-BE49-F238E27FC236}">
                <a16:creationId xmlns:a16="http://schemas.microsoft.com/office/drawing/2014/main" id="{708DF13F-6ADA-E4D6-11E3-A69828C290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8" name="Notes Placeholder 2">
            <a:extLst>
              <a:ext uri="{FF2B5EF4-FFF2-40B4-BE49-F238E27FC236}">
                <a16:creationId xmlns:a16="http://schemas.microsoft.com/office/drawing/2014/main" id="{084FE357-A826-7128-B054-471D1B5CC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5572" name="Slide Number Placeholder 3">
            <a:extLst>
              <a:ext uri="{FF2B5EF4-FFF2-40B4-BE49-F238E27FC236}">
                <a16:creationId xmlns:a16="http://schemas.microsoft.com/office/drawing/2014/main" id="{176FC7D2-203F-261D-3B25-A0266CA53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45A0D5FF-BB83-4842-8DD5-E63554AA8BE5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35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>
            <a:extLst>
              <a:ext uri="{FF2B5EF4-FFF2-40B4-BE49-F238E27FC236}">
                <a16:creationId xmlns:a16="http://schemas.microsoft.com/office/drawing/2014/main" id="{8FECBD00-40CD-645B-4B37-C1318E09AE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6" name="Notes Placeholder 2">
            <a:extLst>
              <a:ext uri="{FF2B5EF4-FFF2-40B4-BE49-F238E27FC236}">
                <a16:creationId xmlns:a16="http://schemas.microsoft.com/office/drawing/2014/main" id="{AC624EEC-AF83-3DD8-C137-ADF7817C6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6596" name="Slide Number Placeholder 3">
            <a:extLst>
              <a:ext uri="{FF2B5EF4-FFF2-40B4-BE49-F238E27FC236}">
                <a16:creationId xmlns:a16="http://schemas.microsoft.com/office/drawing/2014/main" id="{1F0CA612-A223-5CA7-996D-DB1A0D9D3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E1B18F2B-788C-8140-AC0B-ED0E1CEBC431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36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>
            <a:extLst>
              <a:ext uri="{FF2B5EF4-FFF2-40B4-BE49-F238E27FC236}">
                <a16:creationId xmlns:a16="http://schemas.microsoft.com/office/drawing/2014/main" id="{812D2D0B-B376-D662-9FCA-2FC84B79B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Notes Placeholder 2">
            <a:extLst>
              <a:ext uri="{FF2B5EF4-FFF2-40B4-BE49-F238E27FC236}">
                <a16:creationId xmlns:a16="http://schemas.microsoft.com/office/drawing/2014/main" id="{D31CF2AB-D31B-7B41-CC13-4B7D8A663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1E5D7-AF0F-62AD-7942-CDACE78FC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835B6E92-8871-E54C-AAC2-72D33B66C8A4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37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Image Placeholder 1">
            <a:extLst>
              <a:ext uri="{FF2B5EF4-FFF2-40B4-BE49-F238E27FC236}">
                <a16:creationId xmlns:a16="http://schemas.microsoft.com/office/drawing/2014/main" id="{BE0398AF-1ACA-7E86-1B74-D8525669EE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2" name="Notes Placeholder 2">
            <a:extLst>
              <a:ext uri="{FF2B5EF4-FFF2-40B4-BE49-F238E27FC236}">
                <a16:creationId xmlns:a16="http://schemas.microsoft.com/office/drawing/2014/main" id="{4CBF2507-AC63-A4BB-5B6B-7A2E12DC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1BEA6-519B-F617-6893-37C747709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9B8203FD-30BA-A845-A3D9-D8685FB02245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38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>
            <a:extLst>
              <a:ext uri="{FF2B5EF4-FFF2-40B4-BE49-F238E27FC236}">
                <a16:creationId xmlns:a16="http://schemas.microsoft.com/office/drawing/2014/main" id="{F8CA7194-1B9E-278F-DC12-9F6EE82BD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0" name="Notes Placeholder 2">
            <a:extLst>
              <a:ext uri="{FF2B5EF4-FFF2-40B4-BE49-F238E27FC236}">
                <a16:creationId xmlns:a16="http://schemas.microsoft.com/office/drawing/2014/main" id="{91E58317-294A-84A0-C0CB-E3876B4C3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7620" name="Slide Number Placeholder 3">
            <a:extLst>
              <a:ext uri="{FF2B5EF4-FFF2-40B4-BE49-F238E27FC236}">
                <a16:creationId xmlns:a16="http://schemas.microsoft.com/office/drawing/2014/main" id="{E39550F8-F653-1C40-B0F5-2598D1574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1E2D9505-865D-F142-B8E4-808D7697C9C8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39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Image Placeholder 1">
            <a:extLst>
              <a:ext uri="{FF2B5EF4-FFF2-40B4-BE49-F238E27FC236}">
                <a16:creationId xmlns:a16="http://schemas.microsoft.com/office/drawing/2014/main" id="{E235D374-8A13-2A1A-FC03-F7B918D1FA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Notes Placeholder 2">
            <a:extLst>
              <a:ext uri="{FF2B5EF4-FFF2-40B4-BE49-F238E27FC236}">
                <a16:creationId xmlns:a16="http://schemas.microsoft.com/office/drawing/2014/main" id="{2EB3866F-F693-4569-2C62-76ADF841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DC3DE-1FB1-E677-BADC-EE346AE1D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979D1451-62DE-2F46-B947-574E399707F7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40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>
            <a:extLst>
              <a:ext uri="{FF2B5EF4-FFF2-40B4-BE49-F238E27FC236}">
                <a16:creationId xmlns:a16="http://schemas.microsoft.com/office/drawing/2014/main" id="{A4091CBB-A785-2D44-AFD9-02C8573C80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6" name="Notes Placeholder 2">
            <a:extLst>
              <a:ext uri="{FF2B5EF4-FFF2-40B4-BE49-F238E27FC236}">
                <a16:creationId xmlns:a16="http://schemas.microsoft.com/office/drawing/2014/main" id="{AB021D50-B962-8DE8-42FE-B3F5C4D8A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C90BC-F7BF-8180-C053-FB01823E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C528ACFF-0B68-4D4A-AED7-E3FDC611B097}" type="slidenum">
              <a:rPr lang="it-IT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41</a:t>
            </a:fld>
            <a:endParaRPr lang="it-IT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Image Placeholder 1">
            <a:extLst>
              <a:ext uri="{FF2B5EF4-FFF2-40B4-BE49-F238E27FC236}">
                <a16:creationId xmlns:a16="http://schemas.microsoft.com/office/drawing/2014/main" id="{AAFA054C-E933-9632-314D-DEAE5E07A4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4" name="Notes Placeholder 2">
            <a:extLst>
              <a:ext uri="{FF2B5EF4-FFF2-40B4-BE49-F238E27FC236}">
                <a16:creationId xmlns:a16="http://schemas.microsoft.com/office/drawing/2014/main" id="{4C0A8B50-3EA7-D90C-46FC-E1DDCC781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8644" name="Slide Number Placeholder 3">
            <a:extLst>
              <a:ext uri="{FF2B5EF4-FFF2-40B4-BE49-F238E27FC236}">
                <a16:creationId xmlns:a16="http://schemas.microsoft.com/office/drawing/2014/main" id="{15A30926-07C1-C413-C24F-1D7CE4469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B7DE5DA1-EA29-9747-86E2-31BD61CD323D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42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>
            <a:extLst>
              <a:ext uri="{FF2B5EF4-FFF2-40B4-BE49-F238E27FC236}">
                <a16:creationId xmlns:a16="http://schemas.microsoft.com/office/drawing/2014/main" id="{130E1D5B-0E04-0B06-EF13-5344C823C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2" name="Notes Placeholder 2">
            <a:extLst>
              <a:ext uri="{FF2B5EF4-FFF2-40B4-BE49-F238E27FC236}">
                <a16:creationId xmlns:a16="http://schemas.microsoft.com/office/drawing/2014/main" id="{043BF2E8-E557-DD6F-7DCE-9D98B617A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69668" name="Slide Number Placeholder 3">
            <a:extLst>
              <a:ext uri="{FF2B5EF4-FFF2-40B4-BE49-F238E27FC236}">
                <a16:creationId xmlns:a16="http://schemas.microsoft.com/office/drawing/2014/main" id="{7419086C-9765-8D75-90D2-A6B4BD87F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FF21E5B6-0794-9A46-A480-11EB7BF9D919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43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Image Placeholder 1">
            <a:extLst>
              <a:ext uri="{FF2B5EF4-FFF2-40B4-BE49-F238E27FC236}">
                <a16:creationId xmlns:a16="http://schemas.microsoft.com/office/drawing/2014/main" id="{973B1FEC-E58A-45CB-F571-1B5F2C47EA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0" name="Notes Placeholder 2">
            <a:extLst>
              <a:ext uri="{FF2B5EF4-FFF2-40B4-BE49-F238E27FC236}">
                <a16:creationId xmlns:a16="http://schemas.microsoft.com/office/drawing/2014/main" id="{7C4A5DDB-24CC-573D-F7D6-A2245D8F5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0692" name="Slide Number Placeholder 3">
            <a:extLst>
              <a:ext uri="{FF2B5EF4-FFF2-40B4-BE49-F238E27FC236}">
                <a16:creationId xmlns:a16="http://schemas.microsoft.com/office/drawing/2014/main" id="{C0BD03AF-B68B-7AF5-103B-5605A0312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CC8FC852-5507-ED48-97EB-716BDF073648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44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Image Placeholder 1">
            <a:extLst>
              <a:ext uri="{FF2B5EF4-FFF2-40B4-BE49-F238E27FC236}">
                <a16:creationId xmlns:a16="http://schemas.microsoft.com/office/drawing/2014/main" id="{81AC4CD2-1504-5EFF-D05C-911ECFBA6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8" name="Notes Placeholder 2">
            <a:extLst>
              <a:ext uri="{FF2B5EF4-FFF2-40B4-BE49-F238E27FC236}">
                <a16:creationId xmlns:a16="http://schemas.microsoft.com/office/drawing/2014/main" id="{7D01E8AC-9619-F53A-2428-3F0617F13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1716" name="Slide Number Placeholder 3">
            <a:extLst>
              <a:ext uri="{FF2B5EF4-FFF2-40B4-BE49-F238E27FC236}">
                <a16:creationId xmlns:a16="http://schemas.microsoft.com/office/drawing/2014/main" id="{62C32F15-7BBE-2C18-8E66-06FDF7ED1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EC846592-E15D-9F45-8E26-2B4483CD09F9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45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lide Image Placeholder 1">
            <a:extLst>
              <a:ext uri="{FF2B5EF4-FFF2-40B4-BE49-F238E27FC236}">
                <a16:creationId xmlns:a16="http://schemas.microsoft.com/office/drawing/2014/main" id="{22844F28-63AB-FE11-C1FC-160A9E3EA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Notes Placeholder 2">
            <a:extLst>
              <a:ext uri="{FF2B5EF4-FFF2-40B4-BE49-F238E27FC236}">
                <a16:creationId xmlns:a16="http://schemas.microsoft.com/office/drawing/2014/main" id="{98FD0E4E-ECCA-19F6-74A1-4DE9F1C4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2740" name="Slide Number Placeholder 3">
            <a:extLst>
              <a:ext uri="{FF2B5EF4-FFF2-40B4-BE49-F238E27FC236}">
                <a16:creationId xmlns:a16="http://schemas.microsoft.com/office/drawing/2014/main" id="{C2A62EAF-34FB-6202-0929-F4F6E9140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7F225657-D609-0A4D-A5A6-890F578EFFA6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46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lide Image Placeholder 1">
            <a:extLst>
              <a:ext uri="{FF2B5EF4-FFF2-40B4-BE49-F238E27FC236}">
                <a16:creationId xmlns:a16="http://schemas.microsoft.com/office/drawing/2014/main" id="{B5A384C7-A657-439F-DC28-4CC442514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4" name="Notes Placeholder 2">
            <a:extLst>
              <a:ext uri="{FF2B5EF4-FFF2-40B4-BE49-F238E27FC236}">
                <a16:creationId xmlns:a16="http://schemas.microsoft.com/office/drawing/2014/main" id="{4485A6FC-5259-D42B-94AD-323DCC2CA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3764" name="Slide Number Placeholder 3">
            <a:extLst>
              <a:ext uri="{FF2B5EF4-FFF2-40B4-BE49-F238E27FC236}">
                <a16:creationId xmlns:a16="http://schemas.microsoft.com/office/drawing/2014/main" id="{1540635F-A57A-39DE-9AEB-1BE0C74F6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EE3DA3CB-CD14-264B-9CFC-12A69D1FAA72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47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lide Image Placeholder 1">
            <a:extLst>
              <a:ext uri="{FF2B5EF4-FFF2-40B4-BE49-F238E27FC236}">
                <a16:creationId xmlns:a16="http://schemas.microsoft.com/office/drawing/2014/main" id="{A4E226E6-A772-55E9-A269-0585EBB9E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2" name="Notes Placeholder 2">
            <a:extLst>
              <a:ext uri="{FF2B5EF4-FFF2-40B4-BE49-F238E27FC236}">
                <a16:creationId xmlns:a16="http://schemas.microsoft.com/office/drawing/2014/main" id="{DDC4374E-3487-3FCB-1E6D-D469C12F3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4788" name="Slide Number Placeholder 3">
            <a:extLst>
              <a:ext uri="{FF2B5EF4-FFF2-40B4-BE49-F238E27FC236}">
                <a16:creationId xmlns:a16="http://schemas.microsoft.com/office/drawing/2014/main" id="{F34A6CD0-BA0D-5895-D1ED-DA4CF1F30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9EF1F517-5759-FE41-B8E6-332E4BB4F9E5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48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lide Image Placeholder 1">
            <a:extLst>
              <a:ext uri="{FF2B5EF4-FFF2-40B4-BE49-F238E27FC236}">
                <a16:creationId xmlns:a16="http://schemas.microsoft.com/office/drawing/2014/main" id="{BF8C67F3-0555-143D-E5B9-44A644D40D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0" name="Notes Placeholder 2">
            <a:extLst>
              <a:ext uri="{FF2B5EF4-FFF2-40B4-BE49-F238E27FC236}">
                <a16:creationId xmlns:a16="http://schemas.microsoft.com/office/drawing/2014/main" id="{AB8506E9-E513-B093-FAC9-B65AE2655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5812" name="Slide Number Placeholder 3">
            <a:extLst>
              <a:ext uri="{FF2B5EF4-FFF2-40B4-BE49-F238E27FC236}">
                <a16:creationId xmlns:a16="http://schemas.microsoft.com/office/drawing/2014/main" id="{47BEA37A-A04A-FA3A-2534-AB161C992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31F7F0A0-25ED-254C-ABFB-E31812FDFB49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49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>
            <a:extLst>
              <a:ext uri="{FF2B5EF4-FFF2-40B4-BE49-F238E27FC236}">
                <a16:creationId xmlns:a16="http://schemas.microsoft.com/office/drawing/2014/main" id="{742CAACE-4553-16C6-DF33-2F94342AD7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>
            <a:extLst>
              <a:ext uri="{FF2B5EF4-FFF2-40B4-BE49-F238E27FC236}">
                <a16:creationId xmlns:a16="http://schemas.microsoft.com/office/drawing/2014/main" id="{AB2002AB-7F73-4B4E-0711-FEFFE792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6836" name="Slide Number Placeholder 3">
            <a:extLst>
              <a:ext uri="{FF2B5EF4-FFF2-40B4-BE49-F238E27FC236}">
                <a16:creationId xmlns:a16="http://schemas.microsoft.com/office/drawing/2014/main" id="{A4EBEB1D-4D9C-4C98-A6E1-5B18A624F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484A6974-B133-154E-8379-130A3479CD4A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50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Slide Image Placeholder 1">
            <a:extLst>
              <a:ext uri="{FF2B5EF4-FFF2-40B4-BE49-F238E27FC236}">
                <a16:creationId xmlns:a16="http://schemas.microsoft.com/office/drawing/2014/main" id="{0D2C159E-F3E7-72BC-0AC0-5B8B64BBA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6" name="Notes Placeholder 2">
            <a:extLst>
              <a:ext uri="{FF2B5EF4-FFF2-40B4-BE49-F238E27FC236}">
                <a16:creationId xmlns:a16="http://schemas.microsoft.com/office/drawing/2014/main" id="{8381EFDE-09FA-C19B-9F0D-B081304C0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77860" name="Slide Number Placeholder 3">
            <a:extLst>
              <a:ext uri="{FF2B5EF4-FFF2-40B4-BE49-F238E27FC236}">
                <a16:creationId xmlns:a16="http://schemas.microsoft.com/office/drawing/2014/main" id="{7339C6DA-4C28-6A33-2596-77C5A949B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4242833F-2E20-7145-89BA-4803D4082417}" type="slidenum">
              <a:rPr lang="en-US" altLang="it-IT" sz="1200" smtClean="0">
                <a:latin typeface="Comic Sans MS" panose="030F0902030302020204" pitchFamily="66" charset="0"/>
              </a:rPr>
              <a:pPr eaLnBrk="1" hangingPunct="1">
                <a:defRPr/>
              </a:pPr>
              <a:t>51</a:t>
            </a:fld>
            <a:endParaRPr lang="en-US" altLang="it-IT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D80C0B-513D-1464-B36C-3874DD360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533B37-694C-DEF4-88C7-845324EE51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6F0317-0631-F374-A35F-4B9711BA3B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9B390-81D5-9943-8C89-4B09710E43F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6554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756095-7001-6211-1820-A7F9C8E934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1327BD-4B20-0CA9-FCBB-24C6F5736E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469B98-2AE7-491E-ED48-4F5274368F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63A73-B78F-C14A-A567-D09DD162D87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0633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3BD6F-6996-25A9-2402-2285F2233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3251A1-E579-9217-AF90-61D86EC33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6D1EC9-EAFE-8541-CA2A-46768C8CE0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C3D1-E6EE-DB43-B7BA-04D4ACEFDB2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2381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139CF-0FA3-7EC8-3125-7CBEB143C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0941E-F919-B6FD-6B1D-E10F85255B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95FBA-289F-7E05-E741-4D33ACDDBE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43A080-348F-9346-B368-94EA4F38185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6857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459F5A2-53BA-5D5D-4AC1-1F513563DB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96EE29-D6D6-7672-FDA3-6FF47FC39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3D41C77-4987-9412-C09C-F64395651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0C295-3155-4B42-9AB0-D6D922CE642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5299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D4CB194-5BB7-3BDC-A131-5C7018E06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3143F8-552C-B6E1-12EC-F1826FE901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AE0B59-2B68-8EC8-1B20-A383703056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37B9D-DC54-9449-95EB-5E8590C2166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3179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14CE179-3DD8-B640-046E-9EBF16D775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371274D-58BF-AB39-2769-C0D371049A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AC06A6-D5F8-E78F-D075-5330FCDD4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FF123-4E85-C347-ABFB-E70BD818559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9751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7B395-2336-00DD-F246-54A4644CD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7172E-6F3F-8940-AEC4-4CCA3841F7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2A186E-C26E-E9B4-1A08-268AE5E387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CB80B-362D-2A49-9A72-CC40F95AFF4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93916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FCB2B-31D7-61E8-645E-718F7BA50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0BF533-735E-0202-1022-AC752EED40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CEF3ED-3E0B-B696-E48A-2A0FC1108C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FD6A2-980A-5449-A0EC-383D218A19B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1918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1B077E-6801-FC09-773D-24AAB63BB4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40CDB9-D78C-CFE5-F7E4-AE3C03DC8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0BBA32-77D2-08F9-F310-CE5828D958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40B52-AD3B-FD41-A43A-BE8E9C441C6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0551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AF5755-7B9E-4345-854A-935E2F09E2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53EC56-2ADB-0DA9-FA16-1627741E98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A197A8-C3FB-1ACA-2093-9AB5F6089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330A8-A52E-C14F-94E5-5E8D2C3174F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70482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5C349-5199-971B-D8C2-8E51A1A5C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8CC69E-5DE6-6E69-AD45-249897BC39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D6A08-7C7E-2F36-FE18-664143814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77C43-5E98-D544-926B-DED4E8F049A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17390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11260F-C273-64CB-B93F-56FEB98C9E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13AC1B-EDC8-D883-681C-F6676ADD28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C40E4-7F50-4A40-025E-BA6E379728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23C24-5FE1-9342-8F97-0F7955BFB78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39863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966FF"/>
            </a:gs>
            <a:gs pos="100000">
              <a:srgbClr val="472F7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AA6F60-21E1-F47D-3F82-BAF82E067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61DD22-F7D1-F982-F765-FCDA7EBD3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494333-136B-B8D1-5FFE-D1ED158A5F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937AEF-B348-CAE8-C1BC-2E4B837FEB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D9278BB-6F23-269C-7936-F6E5B9272E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FF988AE-B372-2F4D-BA16-894FDD5CF65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5">
            <a:extLst>
              <a:ext uri="{FF2B5EF4-FFF2-40B4-BE49-F238E27FC236}">
                <a16:creationId xmlns:a16="http://schemas.microsoft.com/office/drawing/2014/main" id="{66B26C46-607F-3EF5-F3E8-D4864C788E8D}"/>
              </a:ext>
            </a:extLst>
          </p:cNvPr>
          <p:cNvGrpSpPr>
            <a:grpSpLocks/>
          </p:cNvGrpSpPr>
          <p:nvPr/>
        </p:nvGrpSpPr>
        <p:grpSpPr bwMode="auto">
          <a:xfrm>
            <a:off x="446088" y="-26988"/>
            <a:ext cx="8274050" cy="6696076"/>
            <a:chOff x="446088" y="-26988"/>
            <a:chExt cx="8274050" cy="6696076"/>
          </a:xfrm>
        </p:grpSpPr>
        <p:sp>
          <p:nvSpPr>
            <p:cNvPr id="3" name="Rettangolo 3">
              <a:extLst>
                <a:ext uri="{FF2B5EF4-FFF2-40B4-BE49-F238E27FC236}">
                  <a16:creationId xmlns:a16="http://schemas.microsoft.com/office/drawing/2014/main" id="{21B18467-0600-A0E6-95E3-3A0569C3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88" y="2205038"/>
              <a:ext cx="8274050" cy="4464050"/>
            </a:xfrm>
            <a:prstGeom prst="rect">
              <a:avLst/>
            </a:prstGeom>
            <a:solidFill>
              <a:srgbClr val="EB3013"/>
            </a:solidFill>
            <a:ln>
              <a:noFill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it-IT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6388" name="Titolo 1">
              <a:extLst>
                <a:ext uri="{FF2B5EF4-FFF2-40B4-BE49-F238E27FC236}">
                  <a16:creationId xmlns:a16="http://schemas.microsoft.com/office/drawing/2014/main" id="{B5B81CC0-E065-F40C-B0D5-A7E36C77E0B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11175" y="2060575"/>
              <a:ext cx="8178800" cy="216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lnSpc>
                  <a:spcPts val="4475"/>
                </a:lnSpc>
                <a:spcBef>
                  <a:spcPct val="0"/>
                </a:spcBef>
                <a:buFontTx/>
                <a:buNone/>
              </a:pPr>
              <a:r>
                <a:rPr lang="it-IT" altLang="it-IT" sz="2400" b="1">
                  <a:solidFill>
                    <a:srgbClr val="FFFFFF"/>
                  </a:solidFill>
                  <a:latin typeface="Helvetica Neue" panose="02000503000000020004" pitchFamily="2" charset="0"/>
                </a:rPr>
                <a:t>E' vietata la copia e la riproduzione dei contenuti e immagini in qualsiasi forma. E' inoltre vietata la redistribuzione e la pubblicazione dei contenuti e immagini non autorizzata espressamente dall'autore o dall'Università di Modena e Reggio Emilia</a:t>
              </a:r>
              <a:r>
                <a:rPr lang="it-IT" altLang="it-IT" sz="2400" b="1">
                  <a:solidFill>
                    <a:schemeClr val="bg1"/>
                  </a:solidFill>
                  <a:latin typeface="Helvetica Neue" panose="02000503000000020004" pitchFamily="2" charset="0"/>
                </a:rPr>
                <a:t>.</a:t>
              </a:r>
            </a:p>
          </p:txBody>
        </p:sp>
        <p:sp>
          <p:nvSpPr>
            <p:cNvPr id="16389" name="Sottotitolo 2">
              <a:extLst>
                <a:ext uri="{FF2B5EF4-FFF2-40B4-BE49-F238E27FC236}">
                  <a16:creationId xmlns:a16="http://schemas.microsoft.com/office/drawing/2014/main" id="{E7F52FB2-BBAF-ACE5-2E18-BBB2EF90E9C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11288" y="5445125"/>
              <a:ext cx="6400800" cy="627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3125"/>
                </a:lnSpc>
                <a:buFontTx/>
                <a:buNone/>
              </a:pPr>
              <a:r>
                <a:rPr lang="it-IT" altLang="it-IT" sz="2400" b="1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Corso di Biochimica. Dietisti </a:t>
              </a:r>
            </a:p>
            <a:p>
              <a:pPr algn="ctr">
                <a:lnSpc>
                  <a:spcPts val="3125"/>
                </a:lnSpc>
                <a:buFontTx/>
                <a:buNone/>
              </a:pPr>
              <a:r>
                <a:rPr lang="it-IT" altLang="it-IT" sz="2400" b="1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Docente: D</a:t>
              </a:r>
              <a:r>
                <a:rPr lang="it-IT" altLang="en-US" sz="2400" b="1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’</a:t>
              </a:r>
              <a:r>
                <a:rPr lang="it-IT" altLang="it-IT" sz="2400" b="1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Arca Domenico</a:t>
              </a:r>
            </a:p>
          </p:txBody>
        </p:sp>
        <p:pic>
          <p:nvPicPr>
            <p:cNvPr id="16390" name="Immagine 4">
              <a:extLst>
                <a:ext uri="{FF2B5EF4-FFF2-40B4-BE49-F238E27FC236}">
                  <a16:creationId xmlns:a16="http://schemas.microsoft.com/office/drawing/2014/main" id="{6CC5D29B-4EAD-546A-6CD8-5FE1AE4D1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0325" y="-26988"/>
              <a:ext cx="4945063" cy="3219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Enzimi-cinetica 15">
            <a:extLst>
              <a:ext uri="{FF2B5EF4-FFF2-40B4-BE49-F238E27FC236}">
                <a16:creationId xmlns:a16="http://schemas.microsoft.com/office/drawing/2014/main" id="{2176755D-1985-F3E8-A98E-6CCCF695E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62000"/>
            <a:ext cx="6851650" cy="52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666E44B2-9902-8683-FA57-16222C25E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25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it-IT" sz="3600">
                <a:solidFill>
                  <a:schemeClr val="bg1"/>
                </a:solidFill>
                <a:ea typeface="ＭＳ Ｐゴシック" panose="020B0600070205080204" pitchFamily="34" charset="-128"/>
              </a:rPr>
              <a:t>EQUAZIONE DI MICHAELIS-MENTEN</a:t>
            </a:r>
          </a:p>
        </p:txBody>
      </p:sp>
      <p:sp>
        <p:nvSpPr>
          <p:cNvPr id="19458" name="Content Placeholder 12">
            <a:extLst>
              <a:ext uri="{FF2B5EF4-FFF2-40B4-BE49-F238E27FC236}">
                <a16:creationId xmlns:a16="http://schemas.microsoft.com/office/drawing/2014/main" id="{51158C5A-B2DE-C71D-E1E1-F42539961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236788"/>
            <a:ext cx="8229600" cy="1477962"/>
          </a:xfrm>
        </p:spPr>
        <p:txBody>
          <a:bodyPr/>
          <a:lstStyle/>
          <a:p>
            <a:pPr eaLnBrk="1" hangingPunct="1"/>
            <a:r>
              <a:rPr lang="en-US" altLang="it-IT" sz="2400">
                <a:solidFill>
                  <a:schemeClr val="bg1"/>
                </a:solidFill>
                <a:ea typeface="ＭＳ Ｐゴシック" panose="020B0600070205080204" pitchFamily="34" charset="-128"/>
              </a:rPr>
              <a:t>Descrive la variazione della velocita</a:t>
            </a: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400">
                <a:solidFill>
                  <a:schemeClr val="bg1"/>
                </a:solidFill>
                <a:ea typeface="ＭＳ Ｐゴシック" panose="020B0600070205080204" pitchFamily="34" charset="-128"/>
              </a:rPr>
              <a:t> di reazione al variare della concentrazione del substrato</a:t>
            </a: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800">
              <a:ea typeface="ＭＳ Ｐゴシック" panose="020B0600070205080204" pitchFamily="34" charset="-128"/>
            </a:endParaRP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93D1B4B7-B14B-B1FE-9802-C53748917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13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800">
              <a:solidFill>
                <a:schemeClr val="bg1"/>
              </a:solidFill>
            </a:endParaRPr>
          </a:p>
        </p:txBody>
      </p:sp>
      <p:pic>
        <p:nvPicPr>
          <p:cNvPr id="19460" name="Picture 9" descr="&#10; E + S&#10;  \begin{matrix}&#10;    k_1 \\&#10;    \longrightarrow \\&#10;    \longleftarrow  \\&#10;    k_{-1}&#10;  \end{matrix}&#10; ES&#10;  \begin{matrix}&#10;    k_2 \\&#10;    \longrightarrow\\&#10;    \ &#10;  \end{matrix}&#10; E + P&#10;">
            <a:extLst>
              <a:ext uri="{FF2B5EF4-FFF2-40B4-BE49-F238E27FC236}">
                <a16:creationId xmlns:a16="http://schemas.microsoft.com/office/drawing/2014/main" id="{7F74497E-48AA-3FCF-F425-CD67371B7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266825"/>
            <a:ext cx="19050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11" descr="V = \frac {V_{max}[S]}{K_M+[S]}">
            <a:extLst>
              <a:ext uri="{FF2B5EF4-FFF2-40B4-BE49-F238E27FC236}">
                <a16:creationId xmlns:a16="http://schemas.microsoft.com/office/drawing/2014/main" id="{7DDA2083-93CA-96F9-7A5D-7F050FD1F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562350"/>
            <a:ext cx="19304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TextBox 11">
            <a:extLst>
              <a:ext uri="{FF2B5EF4-FFF2-40B4-BE49-F238E27FC236}">
                <a16:creationId xmlns:a16="http://schemas.microsoft.com/office/drawing/2014/main" id="{A4D9EB1F-372C-0E4C-200B-6E69B587C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238750"/>
            <a:ext cx="4572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bg1"/>
                </a:solidFill>
              </a:rPr>
              <a:t>V= velocita</a:t>
            </a:r>
            <a:r>
              <a:rPr lang="en-US" altLang="en-US" sz="2000">
                <a:solidFill>
                  <a:schemeClr val="bg1"/>
                </a:solidFill>
              </a:rPr>
              <a:t>’</a:t>
            </a:r>
            <a:r>
              <a:rPr lang="en-US" altLang="it-IT" sz="2000">
                <a:solidFill>
                  <a:schemeClr val="bg1"/>
                </a:solidFill>
              </a:rPr>
              <a:t> iniziale della reazione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bg1"/>
                </a:solidFill>
              </a:rPr>
              <a:t>Vmax= velocita</a:t>
            </a:r>
            <a:r>
              <a:rPr lang="en-US" altLang="en-US" sz="2000">
                <a:solidFill>
                  <a:schemeClr val="bg1"/>
                </a:solidFill>
              </a:rPr>
              <a:t>’</a:t>
            </a:r>
            <a:r>
              <a:rPr lang="en-US" altLang="it-IT" sz="2000">
                <a:solidFill>
                  <a:schemeClr val="bg1"/>
                </a:solidFill>
              </a:rPr>
              <a:t> massima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bg1"/>
                </a:solidFill>
              </a:rPr>
              <a:t>Km= costante di Michaelis= (K-</a:t>
            </a:r>
            <a:r>
              <a:rPr lang="en-US" altLang="it-IT" sz="2000">
                <a:solidFill>
                  <a:schemeClr val="bg1"/>
                </a:solidFill>
                <a:latin typeface="Calibri" panose="020F0502020204030204" pitchFamily="34" charset="0"/>
              </a:rPr>
              <a:t>₁ + k₂)/K₁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bg1"/>
                </a:solidFill>
              </a:rPr>
              <a:t>[S]= concentrazione del substrrato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 descr="Enzimi-cinetica 8">
            <a:extLst>
              <a:ext uri="{FF2B5EF4-FFF2-40B4-BE49-F238E27FC236}">
                <a16:creationId xmlns:a16="http://schemas.microsoft.com/office/drawing/2014/main" id="{04590391-B259-3B16-C4FE-1E0B8B5DE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8200"/>
            <a:ext cx="7683500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Content Placeholder 2">
            <a:extLst>
              <a:ext uri="{FF2B5EF4-FFF2-40B4-BE49-F238E27FC236}">
                <a16:creationId xmlns:a16="http://schemas.microsoft.com/office/drawing/2014/main" id="{65FEF353-A986-019C-BA32-2D3455A97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747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Nel ricavare 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equazione della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di Michaelis-Menten si assume:</a:t>
            </a:r>
          </a:p>
          <a:p>
            <a:pPr eaLnBrk="1" hangingPunct="1">
              <a:buFontTx/>
              <a:buNone/>
            </a:pPr>
            <a:endParaRPr lang="en-US" altLang="it-IT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Tx/>
              <a:buAutoNum type="arabicParenR"/>
            </a:pP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La  concentrazione di substrato [S]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molto maggiore dell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enzima</a:t>
            </a:r>
          </a:p>
          <a:p>
            <a:pPr eaLnBrk="1" hangingPunct="1">
              <a:buFontTx/>
              <a:buAutoNum type="arabicParenR"/>
            </a:pP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ES non cambia nel tempo, 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di formazione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uguale alla degradazione</a:t>
            </a:r>
          </a:p>
          <a:p>
            <a:pPr eaLnBrk="1" hangingPunct="1">
              <a:buFontTx/>
              <a:buAutoNum type="arabicParenR"/>
            </a:pP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Nell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analisi delle reazioni si considerano solo le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iniziali </a:t>
            </a:r>
          </a:p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315908C2-AD1D-067C-1611-434B35DA9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878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it-IT" sz="3200">
                <a:solidFill>
                  <a:schemeClr val="bg1"/>
                </a:solidFill>
                <a:ea typeface="ＭＳ Ｐゴシック" panose="020B0600070205080204" pitchFamily="34" charset="-128"/>
              </a:rPr>
              <a:t>ASPETTI DELLA CINETICA DI MICHAELIS-MENTEN</a:t>
            </a:r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8D425899-CDF6-F14D-3C05-EE3997CFDD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5578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Ogni enzima ha una caratteristica </a:t>
            </a:r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Km 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rispetto ad un particolare substrato, il suo valore rispecchia </a:t>
            </a:r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en-US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affinita</a:t>
            </a:r>
            <a:r>
              <a:rPr lang="en-US" altLang="en-US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dell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enzima per quel substrato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Il valore di Km e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 uguale alla concentrazione di substrato cui corrisponde il valore della meta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 della velocita max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La Km non varia al variare della concentrazione dell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enzima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Km piccola: alta affinita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endParaRPr lang="en-US" altLang="it-IT" sz="2800">
              <a:solidFill>
                <a:schemeClr val="bg1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Km grande: bassa affinita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endParaRPr lang="en-US" altLang="it-IT" sz="2800">
              <a:solidFill>
                <a:schemeClr val="bg1"/>
              </a:solidFill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2" descr="0509 Different Km">
            <a:extLst>
              <a:ext uri="{FF2B5EF4-FFF2-40B4-BE49-F238E27FC236}">
                <a16:creationId xmlns:a16="http://schemas.microsoft.com/office/drawing/2014/main" id="{657A7F3E-D17D-B7FE-D260-8D0A84E17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4938"/>
            <a:ext cx="4873625" cy="649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Content Placeholder 2">
            <a:extLst>
              <a:ext uri="{FF2B5EF4-FFF2-40B4-BE49-F238E27FC236}">
                <a16:creationId xmlns:a16="http://schemas.microsoft.com/office/drawing/2014/main" id="{7F468CE8-D8E9-377A-863C-C2B286CBD7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318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Quando la concentrazione del S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molto minore della Km 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proporzionale alla concentrazione del  S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(PRIMO ORDINE)</a:t>
            </a:r>
          </a:p>
          <a:p>
            <a:pPr eaLnBrk="1" hangingPunct="1"/>
            <a:endParaRPr lang="en-US" altLang="it-IT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Quando la concentrazione del S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molto maggiore della Km, 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della reazione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costante ed indipendente dalla concentrazione del  S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(ORDINE ZERO)</a:t>
            </a:r>
          </a:p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 descr="0510 Effect substrate">
            <a:extLst>
              <a:ext uri="{FF2B5EF4-FFF2-40B4-BE49-F238E27FC236}">
                <a16:creationId xmlns:a16="http://schemas.microsoft.com/office/drawing/2014/main" id="{D92C8118-10EE-5C57-9AAE-A8CEAAAC7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4938"/>
            <a:ext cx="4535488" cy="649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C7947539-1428-33BA-9C02-4DB2ED036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8788"/>
            <a:ext cx="8229600" cy="563562"/>
          </a:xfrm>
        </p:spPr>
        <p:txBody>
          <a:bodyPr/>
          <a:lstStyle/>
          <a:p>
            <a:pPr eaLnBrk="1" hangingPunct="1"/>
            <a:r>
              <a:rPr lang="en-US" altLang="it-IT" sz="4000">
                <a:solidFill>
                  <a:schemeClr val="bg1"/>
                </a:solidFill>
                <a:ea typeface="ＭＳ Ｐゴシック" panose="020B0600070205080204" pitchFamily="34" charset="-128"/>
              </a:rPr>
              <a:t>GRAFICO DI LINEWEAVER-BURK</a:t>
            </a: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7823E4FE-4A78-77B0-5B08-F11202E80B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90700"/>
            <a:ext cx="8229600" cy="2819400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Tracciando un grafico della V₀ in funzione di [S] non sempre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possibile conoscere 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esatta Vmax in quanto a concentrazioni elevate la curva diventa asintotica</a:t>
            </a: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Ponendo invece I reciproci si ottiene una linea retta</a:t>
            </a:r>
          </a:p>
        </p:txBody>
      </p:sp>
      <p:pic>
        <p:nvPicPr>
          <p:cNvPr id="33795" name="Picture 5" descr="\frac {1}{V} = \frac {K_M}{V_{max}[S]}+\frac {1}{V_{max}}">
            <a:extLst>
              <a:ext uri="{FF2B5EF4-FFF2-40B4-BE49-F238E27FC236}">
                <a16:creationId xmlns:a16="http://schemas.microsoft.com/office/drawing/2014/main" id="{D4EF9EF1-E6C9-E07F-0B6F-356F46F01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5543550"/>
            <a:ext cx="35036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" descr="0511 Reciprocal plot">
            <a:extLst>
              <a:ext uri="{FF2B5EF4-FFF2-40B4-BE49-F238E27FC236}">
                <a16:creationId xmlns:a16="http://schemas.microsoft.com/office/drawing/2014/main" id="{81FCA639-AA4E-C796-B81A-DD720067D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44563"/>
            <a:ext cx="6616700" cy="484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Enzimi-cinetica 7">
            <a:extLst>
              <a:ext uri="{FF2B5EF4-FFF2-40B4-BE49-F238E27FC236}">
                <a16:creationId xmlns:a16="http://schemas.microsoft.com/office/drawing/2014/main" id="{F6D45AFC-5E82-DE2C-F302-D919BCDCB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620713"/>
            <a:ext cx="7780337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E4101768-F92E-75C8-A2FF-2CEF807828C7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685800"/>
            <a:ext cx="7021513" cy="5514975"/>
            <a:chOff x="624" y="432"/>
            <a:chExt cx="4423" cy="3474"/>
          </a:xfrm>
        </p:grpSpPr>
        <p:pic>
          <p:nvPicPr>
            <p:cNvPr id="39938" name="Picture 2" descr="Enzimi-cinetica 6">
              <a:extLst>
                <a:ext uri="{FF2B5EF4-FFF2-40B4-BE49-F238E27FC236}">
                  <a16:creationId xmlns:a16="http://schemas.microsoft.com/office/drawing/2014/main" id="{B469591A-D320-F2E9-ED8B-3731518B2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432"/>
              <a:ext cx="4423" cy="3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5" name="Text Box 7">
              <a:extLst>
                <a:ext uri="{FF2B5EF4-FFF2-40B4-BE49-F238E27FC236}">
                  <a16:creationId xmlns:a16="http://schemas.microsoft.com/office/drawing/2014/main" id="{694769C5-EA21-BC52-4B1A-7F0BCE005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408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b="1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anose="030F0902030302020204" pitchFamily="66" charset="0"/>
                </a:rPr>
                <a:t>-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EEC5347C-936D-3BC3-8925-0F5FEF3DD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487363"/>
          </a:xfrm>
        </p:spPr>
        <p:txBody>
          <a:bodyPr/>
          <a:lstStyle/>
          <a:p>
            <a:pPr eaLnBrk="1" hangingPunct="1"/>
            <a:r>
              <a:rPr lang="en-US" altLang="it-IT" sz="4000" b="1">
                <a:solidFill>
                  <a:schemeClr val="bg1"/>
                </a:solidFill>
                <a:ea typeface="ＭＳ Ｐゴシック" panose="020B0600070205080204" pitchFamily="34" charset="-128"/>
              </a:rPr>
              <a:t>FATTORI CHE INFLUENZANO LA VELOCITA</a:t>
            </a:r>
            <a:r>
              <a:rPr lang="en-US" altLang="en-US" sz="4000" b="1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4000" b="1">
                <a:solidFill>
                  <a:schemeClr val="bg1"/>
                </a:solidFill>
                <a:ea typeface="ＭＳ Ｐゴシック" panose="020B0600070205080204" pitchFamily="34" charset="-128"/>
              </a:rPr>
              <a:t> DI REAZIONE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AD4B9E1D-748C-3484-9F2E-6471BD55A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510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it-IT" sz="4000">
                <a:solidFill>
                  <a:schemeClr val="bg1"/>
                </a:solidFill>
                <a:ea typeface="ＭＳ Ｐゴシック" panose="020B0600070205080204" pitchFamily="34" charset="-128"/>
              </a:rPr>
              <a:t>1) La concentrazione del substrato</a:t>
            </a:r>
          </a:p>
          <a:p>
            <a:pPr eaLnBrk="1" hangingPunct="1">
              <a:buFontTx/>
              <a:buNone/>
            </a:pPr>
            <a:endParaRPr lang="en-US" altLang="it-IT" sz="4000">
              <a:solidFill>
                <a:schemeClr val="bg1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it-IT" sz="4000">
                <a:solidFill>
                  <a:schemeClr val="bg1"/>
                </a:solidFill>
                <a:ea typeface="ＭＳ Ｐゴシック" panose="020B0600070205080204" pitchFamily="34" charset="-128"/>
              </a:rPr>
              <a:t>2) La temperatura</a:t>
            </a:r>
          </a:p>
          <a:p>
            <a:pPr eaLnBrk="1" hangingPunct="1">
              <a:buFontTx/>
              <a:buNone/>
            </a:pPr>
            <a:endParaRPr lang="en-US" altLang="it-IT" sz="4000">
              <a:solidFill>
                <a:schemeClr val="bg1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it-IT" sz="4000">
                <a:solidFill>
                  <a:schemeClr val="bg1"/>
                </a:solidFill>
                <a:ea typeface="ＭＳ Ｐゴシック" panose="020B0600070205080204" pitchFamily="34" charset="-128"/>
              </a:rPr>
              <a:t>3) Il pH</a:t>
            </a:r>
          </a:p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DE9F12CB-1A18-A1D0-FDBC-AF291CFA6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it-IT" sz="3200">
                <a:solidFill>
                  <a:schemeClr val="bg1"/>
                </a:solidFill>
                <a:ea typeface="ＭＳ Ｐゴシック" panose="020B0600070205080204" pitchFamily="34" charset="-128"/>
              </a:rPr>
              <a:t>LA CONCENTRAZIONE DEL SUBSTRATO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94E68F0B-386C-A9B7-9C43-42985390D2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17600"/>
            <a:ext cx="4343400" cy="5407025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uguale al numero di molecole di substrato che si trasformano in prodotto nell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unita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di tempo</a:t>
            </a: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aumenta all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aumentare dela concentrazione del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substrato </a:t>
            </a:r>
          </a:p>
        </p:txBody>
      </p:sp>
      <p:pic>
        <p:nvPicPr>
          <p:cNvPr id="44035" name="Picture 2" descr="0510 Effect substrate">
            <a:extLst>
              <a:ext uri="{FF2B5EF4-FFF2-40B4-BE49-F238E27FC236}">
                <a16:creationId xmlns:a16="http://schemas.microsoft.com/office/drawing/2014/main" id="{378B111C-72A0-A278-8629-BE88B1E65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5" y="836613"/>
            <a:ext cx="3324225" cy="602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EBFB37D3-02EB-6AF1-844A-1DB6A7930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63563"/>
          </a:xfrm>
        </p:spPr>
        <p:txBody>
          <a:bodyPr/>
          <a:lstStyle/>
          <a:p>
            <a:pPr eaLnBrk="1" hangingPunct="1"/>
            <a:r>
              <a:rPr lang="en-US" altLang="it-IT" sz="3200">
                <a:solidFill>
                  <a:schemeClr val="bg1"/>
                </a:solidFill>
                <a:ea typeface="ＭＳ Ｐゴシック" panose="020B0600070205080204" pitchFamily="34" charset="-128"/>
              </a:rPr>
              <a:t>LA TEMPERATURA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AA90AE99-8396-2B36-D3A0-51320A2E44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533400"/>
            <a:ext cx="4572000" cy="5867400"/>
          </a:xfrm>
        </p:spPr>
        <p:txBody>
          <a:bodyPr/>
          <a:lstStyle/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La velocita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 aumenta all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aumentare della temperatura fino a raggiungere un picco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Questo deriva dall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aumento del numero di molecole che possiedono 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energia sufficiente a superare la barriera energetica 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Oltre una certa temperatura un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ulteriore aumento induce una riduzione della velocita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 (denaturazione dell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enzima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)</a:t>
            </a:r>
          </a:p>
        </p:txBody>
      </p:sp>
      <p:pic>
        <p:nvPicPr>
          <p:cNvPr id="46083" name="Picture 2" descr="0507 Temperature">
            <a:extLst>
              <a:ext uri="{FF2B5EF4-FFF2-40B4-BE49-F238E27FC236}">
                <a16:creationId xmlns:a16="http://schemas.microsoft.com/office/drawing/2014/main" id="{4CA92D9B-0B8B-1BF5-9B29-4A08D078C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06475"/>
            <a:ext cx="4343400" cy="539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7B92E1C1-B451-AFB0-98E2-52813756B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3250"/>
            <a:ext cx="8229600" cy="334963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PH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2165D70E-1CB6-4B9F-2740-2041966D9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La concentrazione degli H+ influenza 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di una reazione:</a:t>
            </a: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Spesso infatti la reazione richiede che specifici gruppi dell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enzima e del substrato si trovino in uno stato ionizzato o non ionizzato affinche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avvenga 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interazione </a:t>
            </a: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pH estremi possono denaturare 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enzima e quindi rallentare il processo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55A3BF75-2135-6AF6-315C-D9FB1D227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3563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PH OTTIMALE</a:t>
            </a:r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8A340833-4F48-CE5F-A287-03F73F1B53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609600"/>
            <a:ext cx="4343400" cy="4525963"/>
          </a:xfrm>
        </p:spPr>
        <p:txBody>
          <a:bodyPr/>
          <a:lstStyle/>
          <a:p>
            <a:pPr eaLnBrk="1" hangingPunct="1"/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Ogni enzima ha un proprio valore di pH ottimale</a:t>
            </a:r>
          </a:p>
          <a:p>
            <a:pPr eaLnBrk="1" hangingPunct="1"/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Questo spesso rispecchia la [H+] dell</a:t>
            </a:r>
            <a:r>
              <a:rPr lang="en-US" altLang="en-US" sz="30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ambiente dove l</a:t>
            </a:r>
            <a:r>
              <a:rPr lang="en-US" altLang="en-US" sz="30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enzima svolge normalmente la propria funzione</a:t>
            </a:r>
          </a:p>
          <a:p>
            <a:pPr eaLnBrk="1" hangingPunct="1"/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Es: </a:t>
            </a:r>
            <a:r>
              <a:rPr lang="en-US" altLang="it-IT" sz="3000" i="1">
                <a:solidFill>
                  <a:schemeClr val="bg1"/>
                </a:solidFill>
                <a:ea typeface="ＭＳ Ｐゴシック" panose="020B0600070205080204" pitchFamily="34" charset="-128"/>
              </a:rPr>
              <a:t>Pepsina</a:t>
            </a:r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 ha un pH ottimale pari a 2, che e</a:t>
            </a:r>
            <a:r>
              <a:rPr lang="en-US" altLang="en-US" sz="30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3000">
                <a:solidFill>
                  <a:schemeClr val="bg1"/>
                </a:solidFill>
                <a:ea typeface="ＭＳ Ｐゴシック" panose="020B0600070205080204" pitchFamily="34" charset="-128"/>
              </a:rPr>
              <a:t> quello presente nello stomaco</a:t>
            </a:r>
            <a:endParaRPr lang="en-US" altLang="it-IT" sz="3000" i="1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50179" name="Picture 2" descr="0508 pH">
            <a:extLst>
              <a:ext uri="{FF2B5EF4-FFF2-40B4-BE49-F238E27FC236}">
                <a16:creationId xmlns:a16="http://schemas.microsoft.com/office/drawing/2014/main" id="{91A8E93F-CA03-3E66-A557-57C50B7CE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0" y="960438"/>
            <a:ext cx="4375150" cy="566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>
            <a:extLst>
              <a:ext uri="{FF2B5EF4-FFF2-40B4-BE49-F238E27FC236}">
                <a16:creationId xmlns:a16="http://schemas.microsoft.com/office/drawing/2014/main" id="{5BF4FA66-0E03-ADAC-687C-5D34E801BB38}"/>
              </a:ext>
            </a:extLst>
          </p:cNvPr>
          <p:cNvGrpSpPr>
            <a:grpSpLocks/>
          </p:cNvGrpSpPr>
          <p:nvPr/>
        </p:nvGrpSpPr>
        <p:grpSpPr bwMode="auto">
          <a:xfrm>
            <a:off x="2941637" y="304800"/>
            <a:ext cx="2773357" cy="990600"/>
            <a:chOff x="144" y="1584"/>
            <a:chExt cx="1555" cy="624"/>
          </a:xfrm>
        </p:grpSpPr>
        <p:sp>
          <p:nvSpPr>
            <p:cNvPr id="52240" name="Rectangle 1027">
              <a:extLst>
                <a:ext uri="{FF2B5EF4-FFF2-40B4-BE49-F238E27FC236}">
                  <a16:creationId xmlns:a16="http://schemas.microsoft.com/office/drawing/2014/main" id="{735EC326-4590-AC24-BDDC-002A70984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584"/>
              <a:ext cx="1555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it-IT" sz="2800">
                <a:solidFill>
                  <a:schemeClr val="bg1"/>
                </a:solidFill>
              </a:endParaRPr>
            </a:p>
          </p:txBody>
        </p:sp>
        <p:sp>
          <p:nvSpPr>
            <p:cNvPr id="33796" name="Text Box 1028">
              <a:extLst>
                <a:ext uri="{FF2B5EF4-FFF2-40B4-BE49-F238E27FC236}">
                  <a16:creationId xmlns:a16="http://schemas.microsoft.com/office/drawing/2014/main" id="{C7D0A027-501F-3177-DC30-B5322EF45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642"/>
              <a:ext cx="1392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2400" b="1" dirty="0">
                  <a:solidFill>
                    <a:srgbClr val="99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ENZIMI</a:t>
              </a:r>
            </a:p>
          </p:txBody>
        </p:sp>
      </p:grpSp>
      <p:grpSp>
        <p:nvGrpSpPr>
          <p:cNvPr id="3" name="Group 1029">
            <a:extLst>
              <a:ext uri="{FF2B5EF4-FFF2-40B4-BE49-F238E27FC236}">
                <a16:creationId xmlns:a16="http://schemas.microsoft.com/office/drawing/2014/main" id="{D764A8B4-8F05-5E21-8148-53C2B6D3B70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295400"/>
            <a:ext cx="3200400" cy="1143000"/>
            <a:chOff x="1680" y="816"/>
            <a:chExt cx="2016" cy="720"/>
          </a:xfrm>
        </p:grpSpPr>
        <p:sp>
          <p:nvSpPr>
            <p:cNvPr id="52238" name="Line 1030">
              <a:extLst>
                <a:ext uri="{FF2B5EF4-FFF2-40B4-BE49-F238E27FC236}">
                  <a16:creationId xmlns:a16="http://schemas.microsoft.com/office/drawing/2014/main" id="{63451681-76A5-0D06-8EBE-E67B0FC0D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816"/>
              <a:ext cx="384" cy="720"/>
            </a:xfrm>
            <a:prstGeom prst="line">
              <a:avLst/>
            </a:prstGeom>
            <a:noFill/>
            <a:ln w="76200">
              <a:solidFill>
                <a:srgbClr val="FF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239" name="Line 1031">
              <a:extLst>
                <a:ext uri="{FF2B5EF4-FFF2-40B4-BE49-F238E27FC236}">
                  <a16:creationId xmlns:a16="http://schemas.microsoft.com/office/drawing/2014/main" id="{5CE304CE-2CAF-6649-3392-B433951F6E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302435" flipH="1">
              <a:off x="3144" y="792"/>
              <a:ext cx="384" cy="720"/>
            </a:xfrm>
            <a:prstGeom prst="line">
              <a:avLst/>
            </a:prstGeom>
            <a:noFill/>
            <a:ln w="76200">
              <a:solidFill>
                <a:srgbClr val="FF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1032">
            <a:extLst>
              <a:ext uri="{FF2B5EF4-FFF2-40B4-BE49-F238E27FC236}">
                <a16:creationId xmlns:a16="http://schemas.microsoft.com/office/drawing/2014/main" id="{158D70EA-A49B-6784-34BC-5FEFCC1099B2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476500"/>
            <a:ext cx="5243513" cy="723900"/>
            <a:chOff x="1008" y="1560"/>
            <a:chExt cx="3303" cy="456"/>
          </a:xfrm>
        </p:grpSpPr>
        <p:sp>
          <p:nvSpPr>
            <p:cNvPr id="33801" name="Rectangle 1033">
              <a:extLst>
                <a:ext uri="{FF2B5EF4-FFF2-40B4-BE49-F238E27FC236}">
                  <a16:creationId xmlns:a16="http://schemas.microsoft.com/office/drawing/2014/main" id="{2E10B21F-A11A-4ED8-2344-86965B4AE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60"/>
              <a:ext cx="1362" cy="45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2000" b="1">
                  <a:solidFill>
                    <a:srgbClr val="99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IRREVERSIBILE</a:t>
              </a:r>
            </a:p>
          </p:txBody>
        </p:sp>
        <p:sp>
          <p:nvSpPr>
            <p:cNvPr id="33802" name="Rectangle 1034">
              <a:extLst>
                <a:ext uri="{FF2B5EF4-FFF2-40B4-BE49-F238E27FC236}">
                  <a16:creationId xmlns:a16="http://schemas.microsoft.com/office/drawing/2014/main" id="{06436B67-6E11-DAC6-6C13-ABBADD628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1560"/>
              <a:ext cx="1476" cy="45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2000" b="1">
                  <a:solidFill>
                    <a:srgbClr val="99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 REVERSIBILE</a:t>
              </a:r>
            </a:p>
          </p:txBody>
        </p:sp>
      </p:grpSp>
      <p:sp>
        <p:nvSpPr>
          <p:cNvPr id="33803" name="Line 1035">
            <a:extLst>
              <a:ext uri="{FF2B5EF4-FFF2-40B4-BE49-F238E27FC236}">
                <a16:creationId xmlns:a16="http://schemas.microsoft.com/office/drawing/2014/main" id="{6151F1FC-47EC-7932-A5F6-484F5ED88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276600"/>
            <a:ext cx="0" cy="9144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4" name="Text Box 1036">
            <a:extLst>
              <a:ext uri="{FF2B5EF4-FFF2-40B4-BE49-F238E27FC236}">
                <a16:creationId xmlns:a16="http://schemas.microsoft.com/office/drawing/2014/main" id="{62D84C99-C48B-1830-6F40-A669EE348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910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INATTIVAZIONE</a:t>
            </a:r>
          </a:p>
        </p:txBody>
      </p:sp>
      <p:sp>
        <p:nvSpPr>
          <p:cNvPr id="33805" name="Line 1037">
            <a:extLst>
              <a:ext uri="{FF2B5EF4-FFF2-40B4-BE49-F238E27FC236}">
                <a16:creationId xmlns:a16="http://schemas.microsoft.com/office/drawing/2014/main" id="{4FABE14B-7C27-07E8-F668-D00E04D90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276600"/>
            <a:ext cx="0" cy="9144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6" name="Line 1038">
            <a:extLst>
              <a:ext uri="{FF2B5EF4-FFF2-40B4-BE49-F238E27FC236}">
                <a16:creationId xmlns:a16="http://schemas.microsoft.com/office/drawing/2014/main" id="{911D07C9-B964-0216-AC7F-5A96FA0C4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276600"/>
            <a:ext cx="0" cy="19812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7" name="Line 1039">
            <a:extLst>
              <a:ext uri="{FF2B5EF4-FFF2-40B4-BE49-F238E27FC236}">
                <a16:creationId xmlns:a16="http://schemas.microsoft.com/office/drawing/2014/main" id="{432BFA15-FEFB-93A9-1B4A-87F82BAEE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5463" y="3276600"/>
            <a:ext cx="0" cy="19812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8" name="Text Box 1040">
            <a:extLst>
              <a:ext uri="{FF2B5EF4-FFF2-40B4-BE49-F238E27FC236}">
                <a16:creationId xmlns:a16="http://schemas.microsoft.com/office/drawing/2014/main" id="{7D5FCE8F-FCAE-73DD-A490-CD5EC9939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2854" y="5334000"/>
            <a:ext cx="2297346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COMPETITIVA</a:t>
            </a:r>
          </a:p>
        </p:txBody>
      </p:sp>
      <p:sp>
        <p:nvSpPr>
          <p:cNvPr id="33809" name="Text Box 1041">
            <a:extLst>
              <a:ext uri="{FF2B5EF4-FFF2-40B4-BE49-F238E27FC236}">
                <a16:creationId xmlns:a16="http://schemas.microsoft.com/office/drawing/2014/main" id="{D3AC2C9F-8738-8786-F01E-7476B7416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33400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NON COMPETITIVA</a:t>
            </a:r>
          </a:p>
        </p:txBody>
      </p:sp>
      <p:sp>
        <p:nvSpPr>
          <p:cNvPr id="33810" name="Text Box 1042">
            <a:extLst>
              <a:ext uri="{FF2B5EF4-FFF2-40B4-BE49-F238E27FC236}">
                <a16:creationId xmlns:a16="http://schemas.microsoft.com/office/drawing/2014/main" id="{E9DF1ACD-9941-8005-19FE-57453ACA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41148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INCOMPETITIVA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4" grpId="0" autoUpdateAnimBg="0"/>
      <p:bldP spid="33808" grpId="0" autoUpdateAnimBg="0"/>
      <p:bldP spid="33809" grpId="0" autoUpdateAnimBg="0"/>
      <p:bldP spid="3381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2">
            <a:extLst>
              <a:ext uri="{FF2B5EF4-FFF2-40B4-BE49-F238E27FC236}">
                <a16:creationId xmlns:a16="http://schemas.microsoft.com/office/drawing/2014/main" id="{7C72F228-0FC5-6039-9EBC-6D5D96781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71438"/>
            <a:ext cx="60833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 sz="4400" b="1">
                <a:solidFill>
                  <a:schemeClr val="bg1"/>
                </a:solidFill>
                <a:latin typeface="Comic Sans MS" panose="030F0902030302020204" pitchFamily="66" charset="0"/>
              </a:rPr>
              <a:t>Irreversible inhibition</a:t>
            </a:r>
            <a:endParaRPr lang="en-US" altLang="it-IT" sz="2400" b="1">
              <a:solidFill>
                <a:schemeClr val="bg1"/>
              </a:solidFill>
              <a:latin typeface="Comic Sans MS" panose="030F0902030302020204" pitchFamily="66" charset="0"/>
            </a:endParaRPr>
          </a:p>
        </p:txBody>
      </p:sp>
      <p:sp>
        <p:nvSpPr>
          <p:cNvPr id="54274" name="Text Box 3">
            <a:extLst>
              <a:ext uri="{FF2B5EF4-FFF2-40B4-BE49-F238E27FC236}">
                <a16:creationId xmlns:a16="http://schemas.microsoft.com/office/drawing/2014/main" id="{1CC9B776-CA86-4BAB-45D2-F61D9BA05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90563"/>
            <a:ext cx="88852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it-IT" sz="2400" b="1">
                <a:solidFill>
                  <a:schemeClr val="bg1"/>
                </a:solidFill>
                <a:latin typeface="Comic Sans MS" panose="030F0902030302020204" pitchFamily="66" charset="0"/>
              </a:rPr>
              <a:t>Potent nerve gas, DIPF(diisopropilflourofosfato),  blocks acetylcholinesterase, necessary for transmission</a:t>
            </a:r>
          </a:p>
        </p:txBody>
      </p:sp>
      <p:pic>
        <p:nvPicPr>
          <p:cNvPr id="54275" name="Picture 4">
            <a:extLst>
              <a:ext uri="{FF2B5EF4-FFF2-40B4-BE49-F238E27FC236}">
                <a16:creationId xmlns:a16="http://schemas.microsoft.com/office/drawing/2014/main" id="{C82734DA-67A4-4AB8-7BF0-0DA583AE5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802798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Text Box 5">
            <a:extLst>
              <a:ext uri="{FF2B5EF4-FFF2-40B4-BE49-F238E27FC236}">
                <a16:creationId xmlns:a16="http://schemas.microsoft.com/office/drawing/2014/main" id="{37A4E972-FA8D-8377-8659-90742E7ED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09800"/>
            <a:ext cx="2211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 sz="2400">
                <a:latin typeface="Times" pitchFamily="2" charset="0"/>
              </a:rPr>
              <a:t>active site serine</a:t>
            </a:r>
          </a:p>
        </p:txBody>
      </p:sp>
      <p:sp>
        <p:nvSpPr>
          <p:cNvPr id="54277" name="Line 6">
            <a:extLst>
              <a:ext uri="{FF2B5EF4-FFF2-40B4-BE49-F238E27FC236}">
                <a16:creationId xmlns:a16="http://schemas.microsoft.com/office/drawing/2014/main" id="{FC446411-9B76-75A3-0133-4D61CE9BA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438400"/>
            <a:ext cx="457200" cy="609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78" name="Text Box 7">
            <a:extLst>
              <a:ext uri="{FF2B5EF4-FFF2-40B4-BE49-F238E27FC236}">
                <a16:creationId xmlns:a16="http://schemas.microsoft.com/office/drawing/2014/main" id="{57857DB3-7ABE-D46C-9E3B-7F68CB173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2041525"/>
            <a:ext cx="12144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 sz="2400">
                <a:latin typeface="Times" pitchFamily="2" charset="0"/>
              </a:rPr>
              <a:t>covalent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400">
                <a:latin typeface="Times" pitchFamily="2" charset="0"/>
              </a:rPr>
              <a:t>bond</a:t>
            </a:r>
          </a:p>
        </p:txBody>
      </p:sp>
      <p:sp>
        <p:nvSpPr>
          <p:cNvPr id="54279" name="Line 8">
            <a:extLst>
              <a:ext uri="{FF2B5EF4-FFF2-40B4-BE49-F238E27FC236}">
                <a16:creationId xmlns:a16="http://schemas.microsoft.com/office/drawing/2014/main" id="{1D61908F-D480-069A-FCAF-B33D72F99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286000"/>
            <a:ext cx="4572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80" name="Text Box 9">
            <a:extLst>
              <a:ext uri="{FF2B5EF4-FFF2-40B4-BE49-F238E27FC236}">
                <a16:creationId xmlns:a16="http://schemas.microsoft.com/office/drawing/2014/main" id="{AE1A8692-4DC8-376A-3217-77678205C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6157913"/>
            <a:ext cx="5446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bg1"/>
                </a:solidFill>
                <a:latin typeface="Times" pitchFamily="2" charset="0"/>
              </a:rPr>
              <a:t>Evidence for active site residues</a:t>
            </a:r>
            <a:endParaRPr lang="en-US" altLang="it-IT" sz="2400">
              <a:solidFill>
                <a:schemeClr val="bg1"/>
              </a:solidFill>
              <a:latin typeface="Times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C317C8FA-9FB3-77CF-F9D6-C61F2E26A915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04800"/>
            <a:ext cx="8153400" cy="6400800"/>
            <a:chOff x="576" y="192"/>
            <a:chExt cx="5136" cy="4032"/>
          </a:xfrm>
        </p:grpSpPr>
        <p:pic>
          <p:nvPicPr>
            <p:cNvPr id="56322" name="Picture 2" descr="inattivazione enzimi">
              <a:extLst>
                <a:ext uri="{FF2B5EF4-FFF2-40B4-BE49-F238E27FC236}">
                  <a16:creationId xmlns:a16="http://schemas.microsoft.com/office/drawing/2014/main" id="{BEEB0CA3-5AA8-4FA3-7FD9-003101EB2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651"/>
              <a:ext cx="4774" cy="3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27" name="Text Box 3">
              <a:extLst>
                <a:ext uri="{FF2B5EF4-FFF2-40B4-BE49-F238E27FC236}">
                  <a16:creationId xmlns:a16="http://schemas.microsoft.com/office/drawing/2014/main" id="{04829128-3F1C-830C-A040-BDDA3431E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92"/>
              <a:ext cx="460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32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INATTIVAZIONE ENZIMI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>
            <a:extLst>
              <a:ext uri="{FF2B5EF4-FFF2-40B4-BE49-F238E27FC236}">
                <a16:creationId xmlns:a16="http://schemas.microsoft.com/office/drawing/2014/main" id="{48F13443-3ED4-AE49-0EB9-9D714954C5BF}"/>
              </a:ext>
            </a:extLst>
          </p:cNvPr>
          <p:cNvGrpSpPr>
            <a:grpSpLocks/>
          </p:cNvGrpSpPr>
          <p:nvPr/>
        </p:nvGrpSpPr>
        <p:grpSpPr bwMode="auto">
          <a:xfrm>
            <a:off x="2941637" y="304800"/>
            <a:ext cx="2925759" cy="990600"/>
            <a:chOff x="144" y="1584"/>
            <a:chExt cx="1555" cy="624"/>
          </a:xfrm>
        </p:grpSpPr>
        <p:sp>
          <p:nvSpPr>
            <p:cNvPr id="58384" name="Rectangle 1027">
              <a:extLst>
                <a:ext uri="{FF2B5EF4-FFF2-40B4-BE49-F238E27FC236}">
                  <a16:creationId xmlns:a16="http://schemas.microsoft.com/office/drawing/2014/main" id="{DA7FAEBA-494C-AF90-37A0-CFF4FCF36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584"/>
              <a:ext cx="1555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it-IT" sz="2800">
                <a:solidFill>
                  <a:schemeClr val="bg1"/>
                </a:solidFill>
              </a:endParaRPr>
            </a:p>
          </p:txBody>
        </p:sp>
        <p:sp>
          <p:nvSpPr>
            <p:cNvPr id="33796" name="Text Box 1028">
              <a:extLst>
                <a:ext uri="{FF2B5EF4-FFF2-40B4-BE49-F238E27FC236}">
                  <a16:creationId xmlns:a16="http://schemas.microsoft.com/office/drawing/2014/main" id="{F0C3AE66-A465-F6A4-01F1-8AB8AC01A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642"/>
              <a:ext cx="1392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2400" b="1">
                  <a:solidFill>
                    <a:srgbClr val="99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ENZIMI</a:t>
              </a:r>
            </a:p>
          </p:txBody>
        </p:sp>
      </p:grpSp>
      <p:grpSp>
        <p:nvGrpSpPr>
          <p:cNvPr id="3" name="Group 1029">
            <a:extLst>
              <a:ext uri="{FF2B5EF4-FFF2-40B4-BE49-F238E27FC236}">
                <a16:creationId xmlns:a16="http://schemas.microsoft.com/office/drawing/2014/main" id="{6715AC86-841F-1286-8B3F-E4481D19133D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295400"/>
            <a:ext cx="3200400" cy="1143000"/>
            <a:chOff x="1680" y="816"/>
            <a:chExt cx="2016" cy="720"/>
          </a:xfrm>
        </p:grpSpPr>
        <p:sp>
          <p:nvSpPr>
            <p:cNvPr id="58382" name="Line 1030">
              <a:extLst>
                <a:ext uri="{FF2B5EF4-FFF2-40B4-BE49-F238E27FC236}">
                  <a16:creationId xmlns:a16="http://schemas.microsoft.com/office/drawing/2014/main" id="{9AF1A7C1-9935-9095-9046-DC2CAC470C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816"/>
              <a:ext cx="384" cy="720"/>
            </a:xfrm>
            <a:prstGeom prst="line">
              <a:avLst/>
            </a:prstGeom>
            <a:noFill/>
            <a:ln w="76200">
              <a:solidFill>
                <a:srgbClr val="FF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383" name="Line 1031">
              <a:extLst>
                <a:ext uri="{FF2B5EF4-FFF2-40B4-BE49-F238E27FC236}">
                  <a16:creationId xmlns:a16="http://schemas.microsoft.com/office/drawing/2014/main" id="{A8897B8A-1A20-DF58-2181-5BC2B318DB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302435" flipH="1">
              <a:off x="3144" y="792"/>
              <a:ext cx="384" cy="720"/>
            </a:xfrm>
            <a:prstGeom prst="line">
              <a:avLst/>
            </a:prstGeom>
            <a:noFill/>
            <a:ln w="76200">
              <a:solidFill>
                <a:srgbClr val="FF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1032">
            <a:extLst>
              <a:ext uri="{FF2B5EF4-FFF2-40B4-BE49-F238E27FC236}">
                <a16:creationId xmlns:a16="http://schemas.microsoft.com/office/drawing/2014/main" id="{0E9FFF75-9A22-1CA9-DFBA-00B9B6E09E5F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476500"/>
            <a:ext cx="5243513" cy="723900"/>
            <a:chOff x="1008" y="1560"/>
            <a:chExt cx="3303" cy="456"/>
          </a:xfrm>
        </p:grpSpPr>
        <p:sp>
          <p:nvSpPr>
            <p:cNvPr id="33801" name="Rectangle 1033">
              <a:extLst>
                <a:ext uri="{FF2B5EF4-FFF2-40B4-BE49-F238E27FC236}">
                  <a16:creationId xmlns:a16="http://schemas.microsoft.com/office/drawing/2014/main" id="{2BDC06F4-2A20-9C8F-D9BA-FAB2DD70F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60"/>
              <a:ext cx="1362" cy="45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2000" b="1">
                  <a:solidFill>
                    <a:srgbClr val="99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IRREVERSIBILE</a:t>
              </a:r>
            </a:p>
          </p:txBody>
        </p:sp>
        <p:sp>
          <p:nvSpPr>
            <p:cNvPr id="33802" name="Rectangle 1034">
              <a:extLst>
                <a:ext uri="{FF2B5EF4-FFF2-40B4-BE49-F238E27FC236}">
                  <a16:creationId xmlns:a16="http://schemas.microsoft.com/office/drawing/2014/main" id="{3D547253-AE99-FE53-A743-B2B2BB652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1560"/>
              <a:ext cx="1476" cy="45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2000" b="1">
                  <a:solidFill>
                    <a:srgbClr val="99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 REVERSIBILE</a:t>
              </a:r>
            </a:p>
          </p:txBody>
        </p:sp>
      </p:grpSp>
      <p:sp>
        <p:nvSpPr>
          <p:cNvPr id="33803" name="Line 1035">
            <a:extLst>
              <a:ext uri="{FF2B5EF4-FFF2-40B4-BE49-F238E27FC236}">
                <a16:creationId xmlns:a16="http://schemas.microsoft.com/office/drawing/2014/main" id="{A1F34D09-6E0F-C9C2-6B6B-B12883484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276600"/>
            <a:ext cx="0" cy="9144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4" name="Text Box 1036">
            <a:extLst>
              <a:ext uri="{FF2B5EF4-FFF2-40B4-BE49-F238E27FC236}">
                <a16:creationId xmlns:a16="http://schemas.microsoft.com/office/drawing/2014/main" id="{C4100CFA-CAE3-314D-2CEE-7B2AA7ED1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910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INATTIVAZIONE</a:t>
            </a:r>
          </a:p>
        </p:txBody>
      </p:sp>
      <p:sp>
        <p:nvSpPr>
          <p:cNvPr id="33805" name="Line 1037">
            <a:extLst>
              <a:ext uri="{FF2B5EF4-FFF2-40B4-BE49-F238E27FC236}">
                <a16:creationId xmlns:a16="http://schemas.microsoft.com/office/drawing/2014/main" id="{CE617B4F-8670-DE6B-72C7-21FAA9576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276600"/>
            <a:ext cx="0" cy="9144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6" name="Line 1038">
            <a:extLst>
              <a:ext uri="{FF2B5EF4-FFF2-40B4-BE49-F238E27FC236}">
                <a16:creationId xmlns:a16="http://schemas.microsoft.com/office/drawing/2014/main" id="{B67C3527-7D61-FF61-F52F-21828BE92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276600"/>
            <a:ext cx="0" cy="19812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7" name="Line 1039">
            <a:extLst>
              <a:ext uri="{FF2B5EF4-FFF2-40B4-BE49-F238E27FC236}">
                <a16:creationId xmlns:a16="http://schemas.microsoft.com/office/drawing/2014/main" id="{74D83150-5043-9D9F-A3DA-A81619238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5463" y="3276600"/>
            <a:ext cx="0" cy="198120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808" name="Text Box 1040">
            <a:extLst>
              <a:ext uri="{FF2B5EF4-FFF2-40B4-BE49-F238E27FC236}">
                <a16:creationId xmlns:a16="http://schemas.microsoft.com/office/drawing/2014/main" id="{B277289B-09B5-0CCA-B021-780E62230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263" y="5334000"/>
            <a:ext cx="22879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COMPETITIVA</a:t>
            </a:r>
          </a:p>
        </p:txBody>
      </p:sp>
      <p:sp>
        <p:nvSpPr>
          <p:cNvPr id="33809" name="Text Box 1041">
            <a:extLst>
              <a:ext uri="{FF2B5EF4-FFF2-40B4-BE49-F238E27FC236}">
                <a16:creationId xmlns:a16="http://schemas.microsoft.com/office/drawing/2014/main" id="{9C7A1CD0-FC40-B17D-A03E-7A44B7EA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33400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NON COMPETITIVA</a:t>
            </a:r>
          </a:p>
        </p:txBody>
      </p:sp>
      <p:sp>
        <p:nvSpPr>
          <p:cNvPr id="33810" name="Text Box 1042">
            <a:extLst>
              <a:ext uri="{FF2B5EF4-FFF2-40B4-BE49-F238E27FC236}">
                <a16:creationId xmlns:a16="http://schemas.microsoft.com/office/drawing/2014/main" id="{A1348589-D24F-8F68-4D6E-E3B6240A8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4114800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rPr>
              <a:t>INCOMPETITIVA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4" grpId="0" autoUpdateAnimBg="0"/>
      <p:bldP spid="33808" grpId="0" autoUpdateAnimBg="0"/>
      <p:bldP spid="33809" grpId="0" autoUpdateAnimBg="0"/>
      <p:bldP spid="3381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AFCADD3D-662F-0F9D-FD73-605E62BFDAC7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990600"/>
            <a:ext cx="7831138" cy="4078288"/>
            <a:chOff x="528" y="624"/>
            <a:chExt cx="4933" cy="2569"/>
          </a:xfrm>
        </p:grpSpPr>
        <p:pic>
          <p:nvPicPr>
            <p:cNvPr id="60418" name="Picture 2" descr="Enzimi 12">
              <a:extLst>
                <a:ext uri="{FF2B5EF4-FFF2-40B4-BE49-F238E27FC236}">
                  <a16:creationId xmlns:a16="http://schemas.microsoft.com/office/drawing/2014/main" id="{39CD4E08-5FF3-3A8B-B66E-74761C05D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536"/>
              <a:ext cx="4933" cy="1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1" name="Text Box 3">
              <a:extLst>
                <a:ext uri="{FF2B5EF4-FFF2-40B4-BE49-F238E27FC236}">
                  <a16:creationId xmlns:a16="http://schemas.microsoft.com/office/drawing/2014/main" id="{AD66C632-08EF-53F8-96BD-6343ACF5A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624"/>
              <a:ext cx="39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32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DEGLI ENZIMI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A6AF15C7-2945-2296-C78A-9C3A840AB1AB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52400"/>
            <a:ext cx="8001000" cy="6484938"/>
            <a:chOff x="720" y="96"/>
            <a:chExt cx="5040" cy="4085"/>
          </a:xfrm>
        </p:grpSpPr>
        <p:pic>
          <p:nvPicPr>
            <p:cNvPr id="62466" name="Picture 2" descr="Enzimi 23">
              <a:extLst>
                <a:ext uri="{FF2B5EF4-FFF2-40B4-BE49-F238E27FC236}">
                  <a16:creationId xmlns:a16="http://schemas.microsoft.com/office/drawing/2014/main" id="{C4481DF3-29E2-36C5-2A45-E5E2CC624C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96"/>
              <a:ext cx="1775" cy="4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5" name="Text Box 3">
              <a:extLst>
                <a:ext uri="{FF2B5EF4-FFF2-40B4-BE49-F238E27FC236}">
                  <a16:creationId xmlns:a16="http://schemas.microsoft.com/office/drawing/2014/main" id="{86EA0903-6E9C-57C3-D1BB-B8CC2F57B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824"/>
              <a:ext cx="3072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Nell</a:t>
              </a:r>
              <a:r>
                <a:rPr lang="ja-JP" altLang="it-IT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’</a:t>
              </a:r>
              <a:r>
                <a:rPr lang="it-IT" altLang="ja-JP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competitiva substrato e inibitore hanno strutture simili</a:t>
              </a:r>
              <a:endParaRPr lang="it-IT" altLang="it-IT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226EDA5-B7BE-1856-E5FA-F509FC42027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685800"/>
            <a:ext cx="6629400" cy="4778375"/>
            <a:chOff x="1056" y="432"/>
            <a:chExt cx="4176" cy="3010"/>
          </a:xfrm>
        </p:grpSpPr>
        <p:pic>
          <p:nvPicPr>
            <p:cNvPr id="64514" name="Picture 2" descr="inibizione competitiva">
              <a:extLst>
                <a:ext uri="{FF2B5EF4-FFF2-40B4-BE49-F238E27FC236}">
                  <a16:creationId xmlns:a16="http://schemas.microsoft.com/office/drawing/2014/main" id="{D13231BE-7C23-008F-40B9-B8E52C2957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3677" cy="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59" name="Text Box 3">
              <a:extLst>
                <a:ext uri="{FF2B5EF4-FFF2-40B4-BE49-F238E27FC236}">
                  <a16:creationId xmlns:a16="http://schemas.microsoft.com/office/drawing/2014/main" id="{6594C05B-B6B1-6E88-D80E-A321217EE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32"/>
              <a:ext cx="417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32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COMPETITIVA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34817FE4-F2CB-FB2D-AF89-DD46E7052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INIBIZIONE COMPETITIVA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6EC2CB20-08E0-BF02-B82C-CA2FAED167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Si ha quando l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inibitore si lega in modo reversibile al sito di legame del substrato e compete  con il substrato stesso</a:t>
            </a:r>
          </a:p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Effetto sulla Vmax: Aumentando la concentrazione del substrato si puo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attenuare l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effetto inibitorio e alla fine la velocita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della reazione raggiunge quella max</a:t>
            </a:r>
          </a:p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Effetto sulla Km: Aumenta (Km apparente), cio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significa che in presenza di un inibitore competitivo e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necessaria una quantita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di substrato maggiore per raggiungere ½ Vmax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nzimi-cinetica 12">
            <a:extLst>
              <a:ext uri="{FF2B5EF4-FFF2-40B4-BE49-F238E27FC236}">
                <a16:creationId xmlns:a16="http://schemas.microsoft.com/office/drawing/2014/main" id="{D299A184-C271-B06C-BA20-50C0CEDC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790575"/>
            <a:ext cx="7586662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2" descr="0512 Competitive Inhibitors">
            <a:extLst>
              <a:ext uri="{FF2B5EF4-FFF2-40B4-BE49-F238E27FC236}">
                <a16:creationId xmlns:a16="http://schemas.microsoft.com/office/drawing/2014/main" id="{2B049039-8EFE-9FD0-1010-38E0B372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3" y="914400"/>
            <a:ext cx="90074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6CBF0BB1-BF5D-14FA-FA43-AAFD17F0A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it-IT" sz="4000" b="1">
                <a:solidFill>
                  <a:srgbClr val="FFFF00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Excess Uric Acid Causes Gout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C1FBB5D-D5E4-4777-5B03-639D51697D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Primary gout (hyperuricemia)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Inborn errors of metabolism that lead to overproduction of Uric Acid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t-IT" sz="20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Overactive de novo synthesis pathway</a:t>
            </a:r>
            <a:endParaRPr lang="en-US" altLang="it-IT" sz="1800" b="1">
              <a:solidFill>
                <a:schemeClr val="bg1"/>
              </a:solidFill>
              <a:latin typeface="Comic Sans MS" panose="030F0902030302020204" pitchFamily="66" charset="0"/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Leads to deposits of Uric Acid in the joints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Causes acute arthritic joint inflammation</a:t>
            </a:r>
          </a:p>
        </p:txBody>
      </p:sp>
      <p:sp>
        <p:nvSpPr>
          <p:cNvPr id="72707" name="WordArt 4">
            <a:extLst>
              <a:ext uri="{FF2B5EF4-FFF2-40B4-BE49-F238E27FC236}">
                <a16:creationId xmlns:a16="http://schemas.microsoft.com/office/drawing/2014/main" id="{735DC67C-2B15-9589-4EA2-8F6E130E769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12900" y="4638675"/>
            <a:ext cx="1981200" cy="838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it-IT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4997"/>
                    </a:srgbClr>
                  </a:outerShdw>
                </a:effectLst>
                <a:latin typeface="Impact" panose="020B0806030902050204" pitchFamily="34" charset="0"/>
              </a:rPr>
              <a:t>Xanthine</a:t>
            </a:r>
          </a:p>
        </p:txBody>
      </p:sp>
      <p:sp>
        <p:nvSpPr>
          <p:cNvPr id="72708" name="AutoShape 5">
            <a:extLst>
              <a:ext uri="{FF2B5EF4-FFF2-40B4-BE49-F238E27FC236}">
                <a16:creationId xmlns:a16="http://schemas.microsoft.com/office/drawing/2014/main" id="{7458DE2C-F53E-FC9A-BC38-75663D87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900" y="5019675"/>
            <a:ext cx="1295400" cy="304800"/>
          </a:xfrm>
          <a:prstGeom prst="rightArrow">
            <a:avLst>
              <a:gd name="adj1" fmla="val 50000"/>
              <a:gd name="adj2" fmla="val 106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800">
              <a:solidFill>
                <a:schemeClr val="bg1"/>
              </a:solidFill>
            </a:endParaRPr>
          </a:p>
        </p:txBody>
      </p:sp>
      <p:sp>
        <p:nvSpPr>
          <p:cNvPr id="72709" name="WordArt 6">
            <a:extLst>
              <a:ext uri="{FF2B5EF4-FFF2-40B4-BE49-F238E27FC236}">
                <a16:creationId xmlns:a16="http://schemas.microsoft.com/office/drawing/2014/main" id="{22FD9497-3D45-65F6-492B-EA583AF208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499100" y="4638675"/>
            <a:ext cx="2197100" cy="863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it-IT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4997"/>
                    </a:srgbClr>
                  </a:outerShdw>
                </a:effectLst>
                <a:latin typeface="Impact" panose="020B0806030902050204" pitchFamily="34" charset="0"/>
              </a:rPr>
              <a:t>Uric Acid</a:t>
            </a:r>
          </a:p>
        </p:txBody>
      </p:sp>
      <p:sp>
        <p:nvSpPr>
          <p:cNvPr id="72710" name="Text Box 7">
            <a:extLst>
              <a:ext uri="{FF2B5EF4-FFF2-40B4-BE49-F238E27FC236}">
                <a16:creationId xmlns:a16="http://schemas.microsoft.com/office/drawing/2014/main" id="{A1189B23-5299-51C9-3979-2249294DC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700" y="4419600"/>
            <a:ext cx="13001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it-IT" sz="2400">
                <a:solidFill>
                  <a:schemeClr val="bg1"/>
                </a:solidFill>
                <a:latin typeface="Times" pitchFamily="2" charset="0"/>
              </a:rPr>
              <a:t>Xanthine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it-IT" sz="2400">
                <a:solidFill>
                  <a:schemeClr val="bg1"/>
                </a:solidFill>
                <a:latin typeface="Times" pitchFamily="2" charset="0"/>
              </a:rPr>
              <a:t>Oxidase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45FF5DC-737D-7168-24D6-B5AD4AAB02A2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4365625"/>
            <a:ext cx="1604963" cy="1584325"/>
            <a:chOff x="2342" y="2736"/>
            <a:chExt cx="1011" cy="998"/>
          </a:xfrm>
        </p:grpSpPr>
        <p:sp>
          <p:nvSpPr>
            <p:cNvPr id="72712" name="Text Box 9">
              <a:extLst>
                <a:ext uri="{FF2B5EF4-FFF2-40B4-BE49-F238E27FC236}">
                  <a16:creationId xmlns:a16="http://schemas.microsoft.com/office/drawing/2014/main" id="{25B1AA9F-D9AC-B367-560A-51B2217EC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3446"/>
              <a:ext cx="10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it-IT" sz="2400">
                  <a:solidFill>
                    <a:schemeClr val="bg1"/>
                  </a:solidFill>
                  <a:latin typeface="Times" pitchFamily="2" charset="0"/>
                </a:rPr>
                <a:t>Allopurinol</a:t>
              </a:r>
            </a:p>
          </p:txBody>
        </p:sp>
        <p:sp>
          <p:nvSpPr>
            <p:cNvPr id="72713" name="AutoShape 10">
              <a:extLst>
                <a:ext uri="{FF2B5EF4-FFF2-40B4-BE49-F238E27FC236}">
                  <a16:creationId xmlns:a16="http://schemas.microsoft.com/office/drawing/2014/main" id="{669598DE-B682-A8C2-E1C2-B7975BACA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3" y="3168"/>
              <a:ext cx="167" cy="336"/>
            </a:xfrm>
            <a:prstGeom prst="upArrow">
              <a:avLst>
                <a:gd name="adj1" fmla="val 50000"/>
                <a:gd name="adj2" fmla="val 50299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it-IT" sz="2800">
                <a:solidFill>
                  <a:schemeClr val="bg1"/>
                </a:solidFill>
              </a:endParaRPr>
            </a:p>
          </p:txBody>
        </p:sp>
        <p:sp>
          <p:nvSpPr>
            <p:cNvPr id="72714" name="Text Box 11">
              <a:extLst>
                <a:ext uri="{FF2B5EF4-FFF2-40B4-BE49-F238E27FC236}">
                  <a16:creationId xmlns:a16="http://schemas.microsoft.com/office/drawing/2014/main" id="{3238F060-C6B0-E78C-94A6-D707627B2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36"/>
              <a:ext cx="42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it-IT" sz="5400">
                  <a:solidFill>
                    <a:srgbClr val="FF0000"/>
                  </a:solidFill>
                  <a:latin typeface="Times" pitchFamily="2" charset="0"/>
                </a:rPr>
                <a:t>X</a:t>
              </a:r>
              <a:endParaRPr lang="en-US" altLang="it-IT" sz="2400">
                <a:solidFill>
                  <a:srgbClr val="FF0000"/>
                </a:solidFill>
                <a:latin typeface="Times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Enzimi-regolazione 1">
            <a:extLst>
              <a:ext uri="{FF2B5EF4-FFF2-40B4-BE49-F238E27FC236}">
                <a16:creationId xmlns:a16="http://schemas.microsoft.com/office/drawing/2014/main" id="{2C533D4A-7435-DFE0-5D49-267D1DD0E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514350"/>
            <a:ext cx="7126287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6D0BE8A0-687E-A640-1AF5-229F060C4B3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28600"/>
            <a:ext cx="7391400" cy="6324600"/>
            <a:chOff x="816" y="144"/>
            <a:chExt cx="4656" cy="3984"/>
          </a:xfrm>
        </p:grpSpPr>
        <p:pic>
          <p:nvPicPr>
            <p:cNvPr id="76802" name="Picture 2" descr="Enzimi-cinetica 16">
              <a:extLst>
                <a:ext uri="{FF2B5EF4-FFF2-40B4-BE49-F238E27FC236}">
                  <a16:creationId xmlns:a16="http://schemas.microsoft.com/office/drawing/2014/main" id="{87D35EDE-8D00-22F0-442C-6E14187298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" y="579"/>
              <a:ext cx="4339" cy="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83" name="Text Box 3">
              <a:extLst>
                <a:ext uri="{FF2B5EF4-FFF2-40B4-BE49-F238E27FC236}">
                  <a16:creationId xmlns:a16="http://schemas.microsoft.com/office/drawing/2014/main" id="{BF74ED09-8F44-A4CE-046D-2DD77B5DD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4"/>
              <a:ext cx="46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Inibitori competitivi usati nella pratica medica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026" descr="Coenzimi folici 1">
            <a:extLst>
              <a:ext uri="{FF2B5EF4-FFF2-40B4-BE49-F238E27FC236}">
                <a16:creationId xmlns:a16="http://schemas.microsoft.com/office/drawing/2014/main" id="{BF317A64-ABC9-BF6E-65BC-48086DF50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"/>
            <a:ext cx="4806950" cy="654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034">
            <a:extLst>
              <a:ext uri="{FF2B5EF4-FFF2-40B4-BE49-F238E27FC236}">
                <a16:creationId xmlns:a16="http://schemas.microsoft.com/office/drawing/2014/main" id="{EA78A08F-A02C-0BF9-E6C2-35146F6BAA0E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810000"/>
            <a:ext cx="685800" cy="2209800"/>
            <a:chOff x="3696" y="2400"/>
            <a:chExt cx="432" cy="1392"/>
          </a:xfrm>
        </p:grpSpPr>
        <p:sp>
          <p:nvSpPr>
            <p:cNvPr id="78851" name="Line 1030">
              <a:extLst>
                <a:ext uri="{FF2B5EF4-FFF2-40B4-BE49-F238E27FC236}">
                  <a16:creationId xmlns:a16="http://schemas.microsoft.com/office/drawing/2014/main" id="{A97A7664-3243-DDF9-CB58-2B7252A82F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656844">
              <a:off x="3696" y="2400"/>
              <a:ext cx="432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8852" name="Line 1032">
              <a:extLst>
                <a:ext uri="{FF2B5EF4-FFF2-40B4-BE49-F238E27FC236}">
                  <a16:creationId xmlns:a16="http://schemas.microsoft.com/office/drawing/2014/main" id="{DEB62B39-D892-0F40-0823-630B99C53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400"/>
              <a:ext cx="0" cy="139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50674B8-156D-015A-C1AA-2596E01CA8EE}"/>
              </a:ext>
            </a:extLst>
          </p:cNvPr>
          <p:cNvGrpSpPr>
            <a:grpSpLocks/>
          </p:cNvGrpSpPr>
          <p:nvPr/>
        </p:nvGrpSpPr>
        <p:grpSpPr bwMode="auto">
          <a:xfrm>
            <a:off x="1136650" y="304800"/>
            <a:ext cx="7245350" cy="6400800"/>
            <a:chOff x="716" y="192"/>
            <a:chExt cx="4564" cy="4032"/>
          </a:xfrm>
        </p:grpSpPr>
        <p:pic>
          <p:nvPicPr>
            <p:cNvPr id="80898" name="Picture 2" descr="Enzimi-cinetica 17">
              <a:extLst>
                <a:ext uri="{FF2B5EF4-FFF2-40B4-BE49-F238E27FC236}">
                  <a16:creationId xmlns:a16="http://schemas.microsoft.com/office/drawing/2014/main" id="{57709944-4D5C-A490-7D8A-0036ADC56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" y="621"/>
              <a:ext cx="4516" cy="3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07" name="Text Box 3">
              <a:extLst>
                <a:ext uri="{FF2B5EF4-FFF2-40B4-BE49-F238E27FC236}">
                  <a16:creationId xmlns:a16="http://schemas.microsoft.com/office/drawing/2014/main" id="{61212285-7304-04B7-4CD7-F75938A64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92"/>
              <a:ext cx="42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Inibitore competitivo usato in medicina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oenzimi folici 2">
            <a:extLst>
              <a:ext uri="{FF2B5EF4-FFF2-40B4-BE49-F238E27FC236}">
                <a16:creationId xmlns:a16="http://schemas.microsoft.com/office/drawing/2014/main" id="{19C254F5-177A-6465-4E5A-7B35A1426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304800"/>
            <a:ext cx="5891212" cy="630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82FD5864-670F-AD41-C7D9-D72723080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3563"/>
          </a:xfrm>
        </p:spPr>
        <p:txBody>
          <a:bodyPr/>
          <a:lstStyle/>
          <a:p>
            <a:r>
              <a:rPr lang="en-US" altLang="it-IT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INIBIZIONE NON COMPETITIVA</a:t>
            </a:r>
          </a:p>
        </p:txBody>
      </p:sp>
      <p:sp>
        <p:nvSpPr>
          <p:cNvPr id="84994" name="Content Placeholder 2">
            <a:extLst>
              <a:ext uri="{FF2B5EF4-FFF2-40B4-BE49-F238E27FC236}">
                <a16:creationId xmlns:a16="http://schemas.microsoft.com/office/drawing/2014/main" id="{82301D2C-9D2E-BB08-D7C1-21947BB2D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3638"/>
            <a:ext cx="8229600" cy="2819400"/>
          </a:xfrm>
        </p:spPr>
        <p:txBody>
          <a:bodyPr/>
          <a:lstStyle/>
          <a:p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Si ha quando si osservano effetti sulla Vmax</a:t>
            </a:r>
          </a:p>
          <a:p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Si verifica quando l</a:t>
            </a:r>
            <a:r>
              <a:rPr lang="en-US" altLang="en-US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inibitore si lega a siti  dell</a:t>
            </a:r>
            <a:r>
              <a:rPr lang="en-US" altLang="en-US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enzima diversi da quello del substrato</a:t>
            </a:r>
          </a:p>
          <a:p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Puo</a:t>
            </a:r>
            <a:r>
              <a:rPr lang="en-US" altLang="en-US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 legarsi sia all</a:t>
            </a:r>
            <a:r>
              <a:rPr lang="en-US" altLang="en-US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rgbClr val="FFFFFF"/>
                </a:solidFill>
                <a:ea typeface="ＭＳ Ｐゴシック" panose="020B0600070205080204" pitchFamily="34" charset="-128"/>
              </a:rPr>
              <a:t>enzima libero E che al complesso ES</a:t>
            </a:r>
          </a:p>
        </p:txBody>
      </p:sp>
      <p:pic>
        <p:nvPicPr>
          <p:cNvPr id="84995" name="Picture 2" descr="0515 Noncompetive model">
            <a:extLst>
              <a:ext uri="{FF2B5EF4-FFF2-40B4-BE49-F238E27FC236}">
                <a16:creationId xmlns:a16="http://schemas.microsoft.com/office/drawing/2014/main" id="{383AEB21-1E1C-6A4E-6EF8-932E93C64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3352800"/>
            <a:ext cx="354806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Content Placeholder 2">
            <a:extLst>
              <a:ext uri="{FF2B5EF4-FFF2-40B4-BE49-F238E27FC236}">
                <a16:creationId xmlns:a16="http://schemas.microsoft.com/office/drawing/2014/main" id="{8DC34616-B7F1-8E2F-C53A-716F5D28AD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84238"/>
            <a:ext cx="8229600" cy="4525962"/>
          </a:xfrm>
        </p:spPr>
        <p:txBody>
          <a:bodyPr/>
          <a:lstStyle/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Effetti sulla Vmax: l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inibizione non competitiva non puo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essere annullata con un aumento del substrato, ne risulta una diminuzione della Vmax</a:t>
            </a:r>
          </a:p>
          <a:p>
            <a:pPr>
              <a:buFontTx/>
              <a:buNone/>
            </a:pPr>
            <a:endParaRPr lang="en-US" altLang="it-IT">
              <a:solidFill>
                <a:srgbClr val="FFFFFF"/>
              </a:solidFill>
              <a:ea typeface="ＭＳ Ｐゴシック" panose="020B0600070205080204" pitchFamily="34" charset="-128"/>
            </a:endParaRPr>
          </a:p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Effetto sulla Km: non competono con il substrato per il legame all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enzima (diverso sito), in queste condizioni quindi la Km rimane invariata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nzimi-cinetica 11">
            <a:extLst>
              <a:ext uri="{FF2B5EF4-FFF2-40B4-BE49-F238E27FC236}">
                <a16:creationId xmlns:a16="http://schemas.microsoft.com/office/drawing/2014/main" id="{124575FF-E303-3237-4B4D-94ED258E9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763" y="955675"/>
            <a:ext cx="6370637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DC5F8AD-3B0E-C9A7-8291-00F6454949E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830263"/>
            <a:ext cx="6024563" cy="5194300"/>
            <a:chOff x="1152" y="523"/>
            <a:chExt cx="3795" cy="3272"/>
          </a:xfrm>
        </p:grpSpPr>
        <p:pic>
          <p:nvPicPr>
            <p:cNvPr id="91138" name="Picture 2" descr="inibizione non competitiva">
              <a:extLst>
                <a:ext uri="{FF2B5EF4-FFF2-40B4-BE49-F238E27FC236}">
                  <a16:creationId xmlns:a16="http://schemas.microsoft.com/office/drawing/2014/main" id="{E6B07837-92F5-A9C2-F3B6-39A9B75DED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60"/>
              <a:ext cx="3795" cy="2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56" name="Text Box 4">
              <a:extLst>
                <a:ext uri="{FF2B5EF4-FFF2-40B4-BE49-F238E27FC236}">
                  <a16:creationId xmlns:a16="http://schemas.microsoft.com/office/drawing/2014/main" id="{077E717C-DB43-43BB-EDB1-A0ECEA74E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523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NON COMPETITIVA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5" name="Picture 2" descr="0514 Noncompetitive">
            <a:extLst>
              <a:ext uri="{FF2B5EF4-FFF2-40B4-BE49-F238E27FC236}">
                <a16:creationId xmlns:a16="http://schemas.microsoft.com/office/drawing/2014/main" id="{6E40DB93-097F-257F-F525-45037557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3" y="1249363"/>
            <a:ext cx="9007475" cy="461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12D3537-37AF-19CB-247C-4BF4661788F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609600"/>
            <a:ext cx="6629400" cy="5307013"/>
            <a:chOff x="1200" y="384"/>
            <a:chExt cx="4176" cy="3343"/>
          </a:xfrm>
        </p:grpSpPr>
        <p:pic>
          <p:nvPicPr>
            <p:cNvPr id="95234" name="Picture 2" descr="inibizione incompetiotiva">
              <a:extLst>
                <a:ext uri="{FF2B5EF4-FFF2-40B4-BE49-F238E27FC236}">
                  <a16:creationId xmlns:a16="http://schemas.microsoft.com/office/drawing/2014/main" id="{7DA19696-2299-93B9-B0EE-E3496FBDD8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864"/>
              <a:ext cx="3695" cy="2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79" name="Text Box 3">
              <a:extLst>
                <a:ext uri="{FF2B5EF4-FFF2-40B4-BE49-F238E27FC236}">
                  <a16:creationId xmlns:a16="http://schemas.microsoft.com/office/drawing/2014/main" id="{DD1B86A2-6FA5-2249-43F4-E79BD26B4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84"/>
              <a:ext cx="41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902030302020204" pitchFamily="66" charset="0"/>
                </a:rPr>
                <a:t>INIBIZIONE INCOMPETITIVA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1" name="Picture 2" descr="FG05_11a-b">
            <a:extLst>
              <a:ext uri="{FF2B5EF4-FFF2-40B4-BE49-F238E27FC236}">
                <a16:creationId xmlns:a16="http://schemas.microsoft.com/office/drawing/2014/main" id="{ABD81795-3309-0B45-B80D-EBA120D59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83" t="10431"/>
          <a:stretch>
            <a:fillRect/>
          </a:stretch>
        </p:blipFill>
        <p:spPr bwMode="auto">
          <a:xfrm>
            <a:off x="4419600" y="2362200"/>
            <a:ext cx="4724400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2" name="Rectangle 3">
            <a:extLst>
              <a:ext uri="{FF2B5EF4-FFF2-40B4-BE49-F238E27FC236}">
                <a16:creationId xmlns:a16="http://schemas.microsoft.com/office/drawing/2014/main" id="{D98AC5E5-3B8A-E4CB-6F63-8736A3D01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Uncompetitive inhibition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2B09B6CF-624F-8F53-6183-2FE9DD6CA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1752600"/>
            <a:ext cx="4573588" cy="1830388"/>
          </a:xfrm>
          <a:noFill/>
        </p:spPr>
        <p:txBody>
          <a:bodyPr/>
          <a:lstStyle/>
          <a:p>
            <a:pPr eaLnBrk="1" hangingPunct="1"/>
            <a:r>
              <a:rPr lang="en-US" altLang="it-IT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Lowers apparent K</a:t>
            </a:r>
            <a:r>
              <a:rPr lang="en-US" altLang="it-IT" b="1" baseline="-25000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m</a:t>
            </a:r>
          </a:p>
          <a:p>
            <a:pPr eaLnBrk="1" hangingPunct="1"/>
            <a:r>
              <a:rPr lang="en-US" altLang="it-IT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Lowers V</a:t>
            </a:r>
            <a:r>
              <a:rPr lang="en-US" altLang="it-IT" b="1" baseline="-25000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max</a:t>
            </a:r>
          </a:p>
          <a:p>
            <a:pPr eaLnBrk="1" hangingPunct="1"/>
            <a:r>
              <a:rPr lang="en-US" altLang="it-IT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V</a:t>
            </a:r>
            <a:r>
              <a:rPr lang="en-US" altLang="it-IT" b="1" baseline="-25000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max</a:t>
            </a:r>
            <a:r>
              <a:rPr lang="en-US" altLang="it-IT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 / K</a:t>
            </a:r>
            <a:r>
              <a:rPr lang="en-US" altLang="it-IT" b="1" baseline="-25000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m</a:t>
            </a:r>
            <a:r>
              <a:rPr lang="en-US" altLang="it-IT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 unchanged</a:t>
            </a:r>
          </a:p>
        </p:txBody>
      </p:sp>
      <p:pic>
        <p:nvPicPr>
          <p:cNvPr id="97284" name="Picture 5" descr="FG05_08a-d">
            <a:extLst>
              <a:ext uri="{FF2B5EF4-FFF2-40B4-BE49-F238E27FC236}">
                <a16:creationId xmlns:a16="http://schemas.microsoft.com/office/drawing/2014/main" id="{4E03F6C7-0428-9FEB-F545-B3C0A97F0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0" t="5154" b="51447"/>
          <a:stretch>
            <a:fillRect/>
          </a:stretch>
        </p:blipFill>
        <p:spPr bwMode="auto">
          <a:xfrm>
            <a:off x="533400" y="3962400"/>
            <a:ext cx="3581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328518AF-FEF5-0FA6-8F51-2924F642E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46050"/>
            <a:ext cx="7772400" cy="1143000"/>
          </a:xfrm>
        </p:spPr>
        <p:txBody>
          <a:bodyPr/>
          <a:lstStyle/>
          <a:p>
            <a:r>
              <a:rPr lang="en-US" altLang="it-IT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REGOLAZIONE DELL</a:t>
            </a:r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ATTIVITA</a:t>
            </a:r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 ENZIMATICA</a:t>
            </a: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77540216-C342-E135-3055-9823CFF80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51038"/>
            <a:ext cx="8229600" cy="4525962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Enzimi allosterici</a:t>
            </a:r>
          </a:p>
          <a:p>
            <a:pPr marL="514350" indent="-514350">
              <a:buFontTx/>
              <a:buAutoNum type="arabicParenR"/>
            </a:pPr>
            <a:endParaRPr lang="en-US" altLang="it-IT">
              <a:solidFill>
                <a:srgbClr val="FFFFFF"/>
              </a:solidFill>
              <a:ea typeface="ＭＳ Ｐゴシック" panose="020B0600070205080204" pitchFamily="34" charset="-128"/>
            </a:endParaRPr>
          </a:p>
          <a:p>
            <a:pPr marL="514350" indent="-514350">
              <a:buFontTx/>
              <a:buAutoNum type="arabicParenR"/>
            </a:pP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Regolazione per modificazioni covalenti</a:t>
            </a:r>
          </a:p>
          <a:p>
            <a:pPr marL="514350" indent="-514350">
              <a:buFontTx/>
              <a:buAutoNum type="arabicParenR"/>
            </a:pPr>
            <a:endParaRPr lang="en-US" altLang="it-IT">
              <a:solidFill>
                <a:srgbClr val="FFFFFF"/>
              </a:solidFill>
              <a:ea typeface="ＭＳ Ｐゴシック" panose="020B0600070205080204" pitchFamily="34" charset="-128"/>
            </a:endParaRPr>
          </a:p>
          <a:p>
            <a:pPr marL="514350" indent="-514350">
              <a:buFontTx/>
              <a:buAutoNum type="arabicParenR"/>
            </a:pP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Induzione e repressione della sintesi enzimatica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>
            <a:extLst>
              <a:ext uri="{FF2B5EF4-FFF2-40B4-BE49-F238E27FC236}">
                <a16:creationId xmlns:a16="http://schemas.microsoft.com/office/drawing/2014/main" id="{C7A73ACA-2CBE-4CA1-BA63-EDE562F20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15963"/>
          </a:xfrm>
        </p:spPr>
        <p:txBody>
          <a:bodyPr/>
          <a:lstStyle/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ENZIMI ALLOSTERICI</a:t>
            </a:r>
          </a:p>
        </p:txBody>
      </p:sp>
      <p:sp>
        <p:nvSpPr>
          <p:cNvPr id="101378" name="Content Placeholder 2">
            <a:extLst>
              <a:ext uri="{FF2B5EF4-FFF2-40B4-BE49-F238E27FC236}">
                <a16:creationId xmlns:a16="http://schemas.microsoft.com/office/drawing/2014/main" id="{A067EA05-6BBB-7FAB-7CAD-BBAAEA4E6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6613"/>
            <a:ext cx="8229600" cy="4525962"/>
          </a:xfrm>
        </p:spPr>
        <p:txBody>
          <a:bodyPr/>
          <a:lstStyle/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Sono regolati da molecole chiamate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effettori 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(o modulatori) che si legano in modo non covalente ad un sito diverso da quello attivo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Possono essere</a:t>
            </a:r>
            <a:r>
              <a:rPr lang="en-US" altLang="it-IT">
                <a:ea typeface="ＭＳ Ｐゴシック" panose="020B0600070205080204" pitchFamily="34" charset="-128"/>
              </a:rPr>
              <a:t>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negativi 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o</a:t>
            </a:r>
            <a:r>
              <a:rPr lang="en-US" altLang="it-IT">
                <a:ea typeface="ＭＳ Ｐゴシック" panose="020B0600070205080204" pitchFamily="34" charset="-128"/>
              </a:rPr>
              <a:t>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positivi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Tali enzimi sono quasi sempre formati da piu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subunita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(di solito Ie subunita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a cui si lega 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inibitore sono diverse da quelle con attivita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enzimatica)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In molti casi questi enzimi catalizzano reazioni importanti e limitante di una via biochimica (tappe che determinano 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della via)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Content Placeholder 2">
            <a:extLst>
              <a:ext uri="{FF2B5EF4-FFF2-40B4-BE49-F238E27FC236}">
                <a16:creationId xmlns:a16="http://schemas.microsoft.com/office/drawing/2014/main" id="{1E5CE782-AF74-44FA-249A-62839305F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28600"/>
            <a:ext cx="8229600" cy="4525963"/>
          </a:xfrm>
        </p:spPr>
        <p:txBody>
          <a:bodyPr/>
          <a:lstStyle/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EFFETTORI OMOTROPICI: quando il substrato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esso stesso un effettore, in molti casi sono effettori positivi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In questi casi il substrato si lega ad un sito dell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enzima causando un aumento dell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attivita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degli altri siti (I siti lavorano in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modo cooperativo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)</a:t>
            </a:r>
            <a:r>
              <a:rPr lang="en-US" altLang="it-IT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In tali enzimi la relazione tra V₀ e concentrazione del substrato ha un andamento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SIGMOIDALE 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Gli effettori positivi e negativi possono modificare la Vmax, la Km o entrambi</a:t>
            </a:r>
          </a:p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2" descr="0516 Allosteric activation">
            <a:extLst>
              <a:ext uri="{FF2B5EF4-FFF2-40B4-BE49-F238E27FC236}">
                <a16:creationId xmlns:a16="http://schemas.microsoft.com/office/drawing/2014/main" id="{AF66E2C5-0C98-1109-A97D-DCD751272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188" y="211138"/>
            <a:ext cx="3348037" cy="649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Content Placeholder 2">
            <a:extLst>
              <a:ext uri="{FF2B5EF4-FFF2-40B4-BE49-F238E27FC236}">
                <a16:creationId xmlns:a16="http://schemas.microsoft.com/office/drawing/2014/main" id="{68AC3FDE-2FFF-D857-0EC7-3F4BD1EE16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"/>
            <a:ext cx="8229600" cy="3657600"/>
          </a:xfrm>
        </p:spPr>
        <p:txBody>
          <a:bodyPr/>
          <a:lstStyle/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EFFETTORI ETEROTROPICI: sono diversi dal substrato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Considerando infatti la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reazione retroattiva</a:t>
            </a:r>
            <a:r>
              <a:rPr lang="en-US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il prodotto finale E si lega ad un sito allosterico inibendo la reazione</a:t>
            </a:r>
          </a:p>
          <a:p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quando la concentrazione di E aumenta il processo viene inibito</a:t>
            </a:r>
          </a:p>
          <a:p>
            <a:endParaRPr lang="en-US" altLang="it-IT">
              <a:ea typeface="ＭＳ Ｐゴシック" panose="020B0600070205080204" pitchFamily="34" charset="-128"/>
            </a:endParaRPr>
          </a:p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107522" name="Picture 2" descr="0517 Feedback inh">
            <a:extLst>
              <a:ext uri="{FF2B5EF4-FFF2-40B4-BE49-F238E27FC236}">
                <a16:creationId xmlns:a16="http://schemas.microsoft.com/office/drawing/2014/main" id="{45204EC6-7A17-72D7-A3E8-7784246D0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3962400"/>
            <a:ext cx="538162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>
            <a:extLst>
              <a:ext uri="{FF2B5EF4-FFF2-40B4-BE49-F238E27FC236}">
                <a16:creationId xmlns:a16="http://schemas.microsoft.com/office/drawing/2014/main" id="{727CE0F7-E134-B164-2EC7-8F1DBE117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63562"/>
          </a:xfrm>
        </p:spPr>
        <p:txBody>
          <a:bodyPr/>
          <a:lstStyle/>
          <a:p>
            <a:r>
              <a:rPr lang="en-US" altLang="it-IT" sz="3200">
                <a:solidFill>
                  <a:schemeClr val="bg1"/>
                </a:solidFill>
                <a:ea typeface="ＭＳ Ｐゴシック" panose="020B0600070205080204" pitchFamily="34" charset="-128"/>
              </a:rPr>
              <a:t>REGOLAZIONE PER MODIFICAZIONE COVALENTE</a:t>
            </a:r>
          </a:p>
        </p:txBody>
      </p:sp>
      <p:sp>
        <p:nvSpPr>
          <p:cNvPr id="109570" name="Content Placeholder 2">
            <a:extLst>
              <a:ext uri="{FF2B5EF4-FFF2-40B4-BE49-F238E27FC236}">
                <a16:creationId xmlns:a16="http://schemas.microsoft.com/office/drawing/2014/main" id="{C48A0C55-4FA7-3CDB-5EF5-8C68DEB9A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4525963"/>
          </a:xfrm>
        </p:spPr>
        <p:txBody>
          <a:bodyPr/>
          <a:lstStyle/>
          <a:p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Molti enzimi possono essere regolati mediante modificazioni covalenti</a:t>
            </a:r>
          </a:p>
          <a:p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Si tratta in molti casi di aggiunta o rimozione di gruppi fosfato a residui di serina, treonina e tirosina dell</a:t>
            </a:r>
            <a:r>
              <a:rPr lang="en-US" altLang="en-US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enzima</a:t>
            </a:r>
          </a:p>
          <a:p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E</a:t>
            </a:r>
            <a:r>
              <a:rPr lang="en-US" altLang="en-US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 tra I principali meccanismi di regolazione dei processi biochimici</a:t>
            </a:r>
          </a:p>
          <a:p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Le reazioni di fosforilazione sono catalizzate da una famiglia di enzimi chiamati </a:t>
            </a:r>
            <a:r>
              <a:rPr lang="en-US" altLang="it-IT" sz="2600" i="1">
                <a:solidFill>
                  <a:srgbClr val="FFFFFF"/>
                </a:solidFill>
                <a:ea typeface="ＭＳ Ｐゴシック" panose="020B0600070205080204" pitchFamily="34" charset="-128"/>
              </a:rPr>
              <a:t>proteine chinasi</a:t>
            </a:r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, che utilizzano ATP come donatore di P</a:t>
            </a:r>
          </a:p>
          <a:p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Le reazioni invece di defosforilazioni sono catalizzate da </a:t>
            </a:r>
            <a:r>
              <a:rPr lang="en-US" altLang="it-IT" sz="2600" i="1">
                <a:solidFill>
                  <a:srgbClr val="FFFFFF"/>
                </a:solidFill>
                <a:ea typeface="ＭＳ Ｐゴシック" panose="020B0600070205080204" pitchFamily="34" charset="-128"/>
              </a:rPr>
              <a:t>proteine fosfatasi</a:t>
            </a:r>
          </a:p>
          <a:p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La fosforilazione o defosforilazione possono aumentare o diminuire l</a:t>
            </a:r>
            <a:r>
              <a:rPr lang="en-US" altLang="en-US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attivita</a:t>
            </a:r>
            <a:r>
              <a:rPr lang="en-US" altLang="en-US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600">
                <a:solidFill>
                  <a:srgbClr val="FFFFFF"/>
                </a:solidFill>
                <a:ea typeface="ＭＳ Ｐゴシック" panose="020B0600070205080204" pitchFamily="34" charset="-128"/>
              </a:rPr>
              <a:t> di un enzima</a:t>
            </a:r>
          </a:p>
          <a:p>
            <a:endParaRPr lang="en-US" altLang="it-IT" sz="2700" i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7" name="Picture 2" descr="0518 Covalent modification">
            <a:extLst>
              <a:ext uri="{FF2B5EF4-FFF2-40B4-BE49-F238E27FC236}">
                <a16:creationId xmlns:a16="http://schemas.microsoft.com/office/drawing/2014/main" id="{A67446EC-6FCB-DC22-6C71-9C7B16C37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762000"/>
            <a:ext cx="71151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>
            <a:extLst>
              <a:ext uri="{FF2B5EF4-FFF2-40B4-BE49-F238E27FC236}">
                <a16:creationId xmlns:a16="http://schemas.microsoft.com/office/drawing/2014/main" id="{FB3E0DFF-9417-96DF-BB3D-6D2B24A17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04775"/>
            <a:ext cx="7772400" cy="1143000"/>
          </a:xfrm>
        </p:spPr>
        <p:txBody>
          <a:bodyPr/>
          <a:lstStyle/>
          <a:p>
            <a:r>
              <a:rPr lang="en-US" altLang="it-IT" sz="4000">
                <a:solidFill>
                  <a:schemeClr val="bg1"/>
                </a:solidFill>
                <a:ea typeface="ＭＳ Ｐゴシック" panose="020B0600070205080204" pitchFamily="34" charset="-128"/>
              </a:rPr>
              <a:t>INDUZIONE E REPRESSIONE DELLA SINTESI DI ENZIMI</a:t>
            </a:r>
          </a:p>
        </p:txBody>
      </p:sp>
      <p:sp>
        <p:nvSpPr>
          <p:cNvPr id="113666" name="Content Placeholder 2">
            <a:extLst>
              <a:ext uri="{FF2B5EF4-FFF2-40B4-BE49-F238E27FC236}">
                <a16:creationId xmlns:a16="http://schemas.microsoft.com/office/drawing/2014/main" id="{49AD6CFA-51C1-EE00-59E0-63205F59A3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03363"/>
            <a:ext cx="7772400" cy="4114800"/>
          </a:xfrm>
        </p:spPr>
        <p:txBody>
          <a:bodyPr/>
          <a:lstStyle/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Le cellule possono anche regolare la quantita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 di molecole di enzima presente, mediante l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aumento o diminuzione della sintesi della proteina (inibendo o aumentando la sua degradazione)</a:t>
            </a:r>
          </a:p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Gli enzimi soggetti a questi meccanismi di solito sono coinvolti in particolari momenti (durante lo sviluppo) o condizioni fisiologiche (l</a:t>
            </a:r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insulina dopo un pasto)</a:t>
            </a:r>
          </a:p>
          <a:p>
            <a:r>
              <a:rPr lang="en-US" altLang="it-IT">
                <a:solidFill>
                  <a:srgbClr val="FFFFFF"/>
                </a:solidFill>
                <a:ea typeface="ＭＳ Ｐゴシック" panose="020B0600070205080204" pitchFamily="34" charset="-128"/>
              </a:rPr>
              <a:t>Sono molto lente (ore o giorni)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3" name="Picture 2" descr="0519 Table">
            <a:extLst>
              <a:ext uri="{FF2B5EF4-FFF2-40B4-BE49-F238E27FC236}">
                <a16:creationId xmlns:a16="http://schemas.microsoft.com/office/drawing/2014/main" id="{C2269FA6-5C02-54B2-C004-65D0966BE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447800"/>
            <a:ext cx="900271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>
            <a:extLst>
              <a:ext uri="{FF2B5EF4-FFF2-40B4-BE49-F238E27FC236}">
                <a16:creationId xmlns:a16="http://schemas.microsoft.com/office/drawing/2014/main" id="{2C8C69E5-22AB-2C37-94C4-D2F8379C1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411163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SOMMARIO</a:t>
            </a:r>
          </a:p>
        </p:txBody>
      </p:sp>
      <p:pic>
        <p:nvPicPr>
          <p:cNvPr id="117762" name="Picture 2" descr="0523 Concept ma">
            <a:extLst>
              <a:ext uri="{FF2B5EF4-FFF2-40B4-BE49-F238E27FC236}">
                <a16:creationId xmlns:a16="http://schemas.microsoft.com/office/drawing/2014/main" id="{2385FF59-4A9A-81AA-C204-767A5E8F7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533400"/>
            <a:ext cx="5580063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6673</TotalTime>
  <Words>1241</Words>
  <Application>Microsoft Macintosh PowerPoint</Application>
  <PresentationFormat>Presentazione su schermo (4:3)</PresentationFormat>
  <Paragraphs>183</Paragraphs>
  <Slides>51</Slides>
  <Notes>50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51</vt:i4>
      </vt:variant>
    </vt:vector>
  </HeadingPairs>
  <TitlesOfParts>
    <vt:vector size="60" baseType="lpstr">
      <vt:lpstr>ＭＳ Ｐゴシック</vt:lpstr>
      <vt:lpstr>Calibri</vt:lpstr>
      <vt:lpstr>Comic Sans MS</vt:lpstr>
      <vt:lpstr>Helvetica Neue</vt:lpstr>
      <vt:lpstr>Helvetica Neue LT Std 55 Roman</vt:lpstr>
      <vt:lpstr>Impact</vt:lpstr>
      <vt:lpstr>Times</vt:lpstr>
      <vt:lpstr>Times New Roman</vt:lpstr>
      <vt:lpstr>Struttura predefinita</vt:lpstr>
      <vt:lpstr>Presentazione standard di PowerPoint</vt:lpstr>
      <vt:lpstr>Presentazione standard di PowerPoint</vt:lpstr>
      <vt:lpstr>EQUAZIONE DI MICHAELIS-MENTEN</vt:lpstr>
      <vt:lpstr>Presentazione standard di PowerPoint</vt:lpstr>
      <vt:lpstr>Presentazione standard di PowerPoint</vt:lpstr>
      <vt:lpstr>ASPETTI DELLA CINETICA DI MICHAELIS-MENTEN</vt:lpstr>
      <vt:lpstr>Presentazione standard di PowerPoint</vt:lpstr>
      <vt:lpstr>Presentazione standard di PowerPoint</vt:lpstr>
      <vt:lpstr>Presentazione standard di PowerPoint</vt:lpstr>
      <vt:lpstr>GRAFICO DI LINEWEAVER-BURK</vt:lpstr>
      <vt:lpstr>Presentazione standard di PowerPoint</vt:lpstr>
      <vt:lpstr>Presentazione standard di PowerPoint</vt:lpstr>
      <vt:lpstr>Presentazione standard di PowerPoint</vt:lpstr>
      <vt:lpstr>FATTORI CHE INFLUENZANO LA VELOCITA’ DI REAZIONE</vt:lpstr>
      <vt:lpstr>LA CONCENTRAZIONE DEL SUBSTRATO</vt:lpstr>
      <vt:lpstr>LA TEMPERATURA</vt:lpstr>
      <vt:lpstr>PH</vt:lpstr>
      <vt:lpstr>PH OTTIMALE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INIBIZIONE COMPETITIVA</vt:lpstr>
      <vt:lpstr>Presentazione standard di PowerPoint</vt:lpstr>
      <vt:lpstr>Presentazione standard di PowerPoint</vt:lpstr>
      <vt:lpstr>Excess Uric Acid Causes Gout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INIBIZIONE NON COMPETITIVA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Uncompetitive inhibition</vt:lpstr>
      <vt:lpstr>REGOLAZIONE DELL’ATTIVITA’ ENZIMATICA</vt:lpstr>
      <vt:lpstr>ENZIMI ALLOSTERICI</vt:lpstr>
      <vt:lpstr>Presentazione standard di PowerPoint</vt:lpstr>
      <vt:lpstr>Presentazione standard di PowerPoint</vt:lpstr>
      <vt:lpstr>Presentazione standard di PowerPoint</vt:lpstr>
      <vt:lpstr>REGOLAZIONE PER MODIFICAZIONE COVALENTE</vt:lpstr>
      <vt:lpstr>Presentazione standard di PowerPoint</vt:lpstr>
      <vt:lpstr>INDUZIONE E REPRESSIONE DELLA SINTESI DI ENZIMI</vt:lpstr>
      <vt:lpstr>Presentazione standard di PowerPoint</vt:lpstr>
      <vt:lpstr>SOMMARIO</vt:lpstr>
    </vt:vector>
  </TitlesOfParts>
  <Company>Scagliarini Assicurazioni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Andrea Scagliarini</dc:creator>
  <cp:lastModifiedBy>Domenico D'ARCA</cp:lastModifiedBy>
  <cp:revision>111</cp:revision>
  <dcterms:created xsi:type="dcterms:W3CDTF">2003-03-06T19:35:32Z</dcterms:created>
  <dcterms:modified xsi:type="dcterms:W3CDTF">2024-10-29T16:28:17Z</dcterms:modified>
</cp:coreProperties>
</file>