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57" r:id="rId2"/>
    <p:sldId id="325" r:id="rId3"/>
    <p:sldId id="326" r:id="rId4"/>
    <p:sldId id="327" r:id="rId5"/>
    <p:sldId id="345" r:id="rId6"/>
    <p:sldId id="346" r:id="rId7"/>
    <p:sldId id="261" r:id="rId8"/>
    <p:sldId id="311" r:id="rId9"/>
    <p:sldId id="312" r:id="rId10"/>
    <p:sldId id="337" r:id="rId11"/>
    <p:sldId id="338" r:id="rId12"/>
    <p:sldId id="257" r:id="rId13"/>
    <p:sldId id="258" r:id="rId14"/>
    <p:sldId id="307" r:id="rId15"/>
    <p:sldId id="259" r:id="rId16"/>
    <p:sldId id="302" r:id="rId17"/>
    <p:sldId id="260" r:id="rId18"/>
    <p:sldId id="262" r:id="rId19"/>
    <p:sldId id="263" r:id="rId20"/>
    <p:sldId id="328" r:id="rId21"/>
    <p:sldId id="330" r:id="rId22"/>
    <p:sldId id="331" r:id="rId23"/>
    <p:sldId id="358" r:id="rId24"/>
    <p:sldId id="332" r:id="rId25"/>
    <p:sldId id="333" r:id="rId26"/>
    <p:sldId id="347" r:id="rId27"/>
    <p:sldId id="348" r:id="rId28"/>
    <p:sldId id="305" r:id="rId29"/>
    <p:sldId id="268" r:id="rId30"/>
    <p:sldId id="355" r:id="rId31"/>
    <p:sldId id="282" r:id="rId32"/>
    <p:sldId id="320" r:id="rId33"/>
    <p:sldId id="321" r:id="rId34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04"/>
  </p:normalViewPr>
  <p:slideViewPr>
    <p:cSldViewPr>
      <p:cViewPr varScale="1">
        <p:scale>
          <a:sx n="105" d="100"/>
          <a:sy n="105" d="100"/>
        </p:scale>
        <p:origin x="184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BC0C4FA-9DB4-A9B5-500F-9F0D9844AE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B158BE9-F3CC-4659-5057-2FE08930C5D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B5AD6BD-444F-FC6D-0B29-8A90B039BC1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DF5F8447-9DF0-8003-08AA-E2F64A2E97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138B4E8A-A100-0396-4C2F-E86B0A30B9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FA9FDF7C-3543-32E2-2D1C-6BF112A8D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7EB9423B-F32E-3A4E-AFBB-2BB63DAB2FF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32BD8408-8E4D-A2B9-E375-C846A79CA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DBCE8BD7-54E8-9805-7877-5165E50F4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33828" name="Slide Number Placeholder 3">
            <a:extLst>
              <a:ext uri="{FF2B5EF4-FFF2-40B4-BE49-F238E27FC236}">
                <a16:creationId xmlns:a16="http://schemas.microsoft.com/office/drawing/2014/main" id="{AD3C1F71-449B-86E6-B74A-B26CDB4E0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98652C0-0A03-7D47-A621-3DE0569AEBF0}" type="slidenum">
              <a:rPr lang="en-US" altLang="it-IT" sz="1200" smtClean="0"/>
              <a:pPr eaLnBrk="1" hangingPunct="1">
                <a:defRPr/>
              </a:pPr>
              <a:t>2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FA541888-B36C-93E4-31A8-693CAC738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23072FB8-DCB4-F9F6-B48F-2893F6530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34852" name="Slide Number Placeholder 3">
            <a:extLst>
              <a:ext uri="{FF2B5EF4-FFF2-40B4-BE49-F238E27FC236}">
                <a16:creationId xmlns:a16="http://schemas.microsoft.com/office/drawing/2014/main" id="{CB9353E3-0CBC-FB8D-3AF7-529488B69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F83856E-BDBA-8F4C-8E3D-6E7B5FF16DB8}" type="slidenum">
              <a:rPr lang="en-US" altLang="it-IT" sz="1200" smtClean="0"/>
              <a:pPr eaLnBrk="1" hangingPunct="1">
                <a:defRPr/>
              </a:pPr>
              <a:t>3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BE902ACB-CAFB-2C99-BFFE-973A30CC8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ED7A1445-4230-B7EA-9809-59241C26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35876" name="Slide Number Placeholder 3">
            <a:extLst>
              <a:ext uri="{FF2B5EF4-FFF2-40B4-BE49-F238E27FC236}">
                <a16:creationId xmlns:a16="http://schemas.microsoft.com/office/drawing/2014/main" id="{086953C9-51FE-516C-D65A-A40C927B6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8EB8C88B-8C54-5E45-B60E-59088450A4CE}" type="slidenum">
              <a:rPr lang="en-US" altLang="it-IT" sz="1200" smtClean="0"/>
              <a:pPr eaLnBrk="1" hangingPunct="1">
                <a:defRPr/>
              </a:pPr>
              <a:t>4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EDC2E091-C63D-0FD5-A234-C7AE804B9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2005F283-5E21-36A9-E45D-A2C7AF9F6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95846-1310-BE41-72CE-65736B30C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278220D1-B179-A646-B7CE-1EB2185ECA86}" type="slidenum">
              <a:rPr lang="it-IT" altLang="it-IT" sz="1200" smtClean="0"/>
              <a:pPr eaLnBrk="1" hangingPunct="1">
                <a:defRPr/>
              </a:pPr>
              <a:t>7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>
            <a:extLst>
              <a:ext uri="{FF2B5EF4-FFF2-40B4-BE49-F238E27FC236}">
                <a16:creationId xmlns:a16="http://schemas.microsoft.com/office/drawing/2014/main" id="{497711DF-096B-4941-199D-B21910105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>
            <a:extLst>
              <a:ext uri="{FF2B5EF4-FFF2-40B4-BE49-F238E27FC236}">
                <a16:creationId xmlns:a16="http://schemas.microsoft.com/office/drawing/2014/main" id="{83DBB0AF-1187-BA4D-EDC9-802AAE11F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C1B6D-D2BD-7730-5EB5-7A38AAC90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6C3F29D-346A-6D4A-AE8D-B9DDDCBC968D}" type="slidenum">
              <a:rPr lang="it-IT" altLang="it-IT" sz="1200" smtClean="0"/>
              <a:pPr eaLnBrk="1" hangingPunct="1">
                <a:defRPr/>
              </a:pPr>
              <a:t>8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>
            <a:extLst>
              <a:ext uri="{FF2B5EF4-FFF2-40B4-BE49-F238E27FC236}">
                <a16:creationId xmlns:a16="http://schemas.microsoft.com/office/drawing/2014/main" id="{2DCE0043-6363-5813-EB28-F83D8DA19A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Notes Placeholder 2">
            <a:extLst>
              <a:ext uri="{FF2B5EF4-FFF2-40B4-BE49-F238E27FC236}">
                <a16:creationId xmlns:a16="http://schemas.microsoft.com/office/drawing/2014/main" id="{C5B5BEB5-806E-0E28-5408-959A9EE8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C5380-19C2-0E86-C1D8-14389BBF1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0D75096-B9B1-4F47-9B2E-AA87AB4E0F6F}" type="slidenum">
              <a:rPr lang="it-IT" altLang="it-IT" sz="1200" smtClean="0"/>
              <a:pPr eaLnBrk="1" hangingPunct="1">
                <a:defRPr/>
              </a:pPr>
              <a:t>9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F13CE3D2-B443-1E9E-C500-C12E4F38B3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DE4A1AD9-6EE0-A62E-B1BA-B435A53E8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9798-B9E9-8287-D978-4C527273B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0EDDDAE-F3B8-5544-999D-9212BD297DEA}" type="slidenum">
              <a:rPr lang="it-IT" altLang="it-IT" sz="1200" smtClean="0"/>
              <a:pPr eaLnBrk="1" hangingPunct="1">
                <a:defRPr/>
              </a:pPr>
              <a:t>12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>
            <a:extLst>
              <a:ext uri="{FF2B5EF4-FFF2-40B4-BE49-F238E27FC236}">
                <a16:creationId xmlns:a16="http://schemas.microsoft.com/office/drawing/2014/main" id="{6C69577D-3E3E-18C4-C939-810879B50D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>
            <a:extLst>
              <a:ext uri="{FF2B5EF4-FFF2-40B4-BE49-F238E27FC236}">
                <a16:creationId xmlns:a16="http://schemas.microsoft.com/office/drawing/2014/main" id="{02325DDD-E40F-722E-64BB-C65304262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4388E-719A-1899-30EF-405953618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E750F9C4-DC66-EA41-A21D-3ED83E1653B2}" type="slidenum">
              <a:rPr lang="it-IT" altLang="it-IT" sz="1200" smtClean="0"/>
              <a:pPr eaLnBrk="1" hangingPunct="1">
                <a:defRPr/>
              </a:pPr>
              <a:t>13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:a16="http://schemas.microsoft.com/office/drawing/2014/main" id="{0D7C16FF-8306-A0B3-1640-F527FA06E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Notes Placeholder 2">
            <a:extLst>
              <a:ext uri="{FF2B5EF4-FFF2-40B4-BE49-F238E27FC236}">
                <a16:creationId xmlns:a16="http://schemas.microsoft.com/office/drawing/2014/main" id="{4430EB29-A14C-9275-D31B-D2A283B99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5BA10-6723-C530-3359-705E1F5CB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0F10D4E7-53F1-254E-91F7-5672CDA25281}" type="slidenum">
              <a:rPr lang="it-IT" altLang="it-IT" sz="1200" smtClean="0"/>
              <a:pPr eaLnBrk="1" hangingPunct="1">
                <a:defRPr/>
              </a:pPr>
              <a:t>14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>
            <a:extLst>
              <a:ext uri="{FF2B5EF4-FFF2-40B4-BE49-F238E27FC236}">
                <a16:creationId xmlns:a16="http://schemas.microsoft.com/office/drawing/2014/main" id="{750BAECF-2A75-2343-535D-136DD0FC1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>
            <a:extLst>
              <a:ext uri="{FF2B5EF4-FFF2-40B4-BE49-F238E27FC236}">
                <a16:creationId xmlns:a16="http://schemas.microsoft.com/office/drawing/2014/main" id="{97EEDC3F-2CFA-C0AC-1455-843FE195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A4036-CFA5-2F21-A452-9C00F5F51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4461ADA9-5011-7442-8F97-6C8D7F23CCCF}" type="slidenum">
              <a:rPr lang="it-IT" altLang="it-IT" sz="1200" smtClean="0"/>
              <a:pPr eaLnBrk="1" hangingPunct="1">
                <a:defRPr/>
              </a:pPr>
              <a:t>15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>
            <a:extLst>
              <a:ext uri="{FF2B5EF4-FFF2-40B4-BE49-F238E27FC236}">
                <a16:creationId xmlns:a16="http://schemas.microsoft.com/office/drawing/2014/main" id="{4704458A-C9E5-CB18-8F98-93710FE46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Notes Placeholder 2">
            <a:extLst>
              <a:ext uri="{FF2B5EF4-FFF2-40B4-BE49-F238E27FC236}">
                <a16:creationId xmlns:a16="http://schemas.microsoft.com/office/drawing/2014/main" id="{A2B2BFEF-A6FD-1917-C24D-ADE82D27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F68CC-D8D7-A08E-28BF-7F8A004ED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24666F90-CA5F-A847-9954-0F0E2CB99CD5}" type="slidenum">
              <a:rPr lang="it-IT" altLang="it-IT" sz="1200" smtClean="0"/>
              <a:pPr eaLnBrk="1" hangingPunct="1">
                <a:defRPr/>
              </a:pPr>
              <a:t>16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>
            <a:extLst>
              <a:ext uri="{FF2B5EF4-FFF2-40B4-BE49-F238E27FC236}">
                <a16:creationId xmlns:a16="http://schemas.microsoft.com/office/drawing/2014/main" id="{FA179844-F823-CFFB-9831-648485B3D2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Notes Placeholder 2">
            <a:extLst>
              <a:ext uri="{FF2B5EF4-FFF2-40B4-BE49-F238E27FC236}">
                <a16:creationId xmlns:a16="http://schemas.microsoft.com/office/drawing/2014/main" id="{A2F5863B-4E47-1589-8C99-805255136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B97D3-D45D-F14D-235C-F53DB2FBE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23BE0AD2-A0F3-2A4A-9714-8339333FB078}" type="slidenum">
              <a:rPr lang="it-IT" altLang="it-IT" sz="1200" smtClean="0"/>
              <a:pPr eaLnBrk="1" hangingPunct="1">
                <a:defRPr/>
              </a:pPr>
              <a:t>17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BFC5E679-1000-D7F4-1DE2-C473055FD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FC39367C-AE54-CEB3-127C-AF2EB7D7B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235DB-4415-E5B6-0CDF-8E9782F7D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6225D81-4C4F-C146-9AAB-2B082575B6A8}" type="slidenum">
              <a:rPr lang="it-IT" altLang="it-IT" sz="1200" smtClean="0"/>
              <a:pPr eaLnBrk="1" hangingPunct="1">
                <a:defRPr/>
              </a:pPr>
              <a:t>18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>
            <a:extLst>
              <a:ext uri="{FF2B5EF4-FFF2-40B4-BE49-F238E27FC236}">
                <a16:creationId xmlns:a16="http://schemas.microsoft.com/office/drawing/2014/main" id="{EDA42537-C5CB-9F16-749F-44E1CC8C3E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Notes Placeholder 2">
            <a:extLst>
              <a:ext uri="{FF2B5EF4-FFF2-40B4-BE49-F238E27FC236}">
                <a16:creationId xmlns:a16="http://schemas.microsoft.com/office/drawing/2014/main" id="{9AC6B38C-2C39-F0DF-170E-A73184450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38273-43C7-F467-8A80-CEC2AB4AB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4EB7775-D0F6-EC4D-975A-1308D3B1B00B}" type="slidenum">
              <a:rPr lang="it-IT" altLang="it-IT" sz="1200" smtClean="0"/>
              <a:pPr eaLnBrk="1" hangingPunct="1">
                <a:defRPr/>
              </a:pPr>
              <a:t>19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>
            <a:extLst>
              <a:ext uri="{FF2B5EF4-FFF2-40B4-BE49-F238E27FC236}">
                <a16:creationId xmlns:a16="http://schemas.microsoft.com/office/drawing/2014/main" id="{418B6D55-9A43-751D-ACDE-7FA9D412E4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>
            <a:extLst>
              <a:ext uri="{FF2B5EF4-FFF2-40B4-BE49-F238E27FC236}">
                <a16:creationId xmlns:a16="http://schemas.microsoft.com/office/drawing/2014/main" id="{8B0D5202-3460-EC73-2BB3-07DC51A71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36900" name="Slide Number Placeholder 3">
            <a:extLst>
              <a:ext uri="{FF2B5EF4-FFF2-40B4-BE49-F238E27FC236}">
                <a16:creationId xmlns:a16="http://schemas.microsoft.com/office/drawing/2014/main" id="{23F76CA5-C0A2-F7A7-1A55-FEF6BDC99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BE22937F-663A-4A45-B700-D4D688188701}" type="slidenum">
              <a:rPr lang="en-US" altLang="it-IT" sz="1200" smtClean="0"/>
              <a:pPr eaLnBrk="1" hangingPunct="1">
                <a:defRPr/>
              </a:pPr>
              <a:t>20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>
            <a:extLst>
              <a:ext uri="{FF2B5EF4-FFF2-40B4-BE49-F238E27FC236}">
                <a16:creationId xmlns:a16="http://schemas.microsoft.com/office/drawing/2014/main" id="{77C2BB34-E970-5C81-A447-CA2008CD51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Notes Placeholder 2">
            <a:extLst>
              <a:ext uri="{FF2B5EF4-FFF2-40B4-BE49-F238E27FC236}">
                <a16:creationId xmlns:a16="http://schemas.microsoft.com/office/drawing/2014/main" id="{54599A54-6F5F-A59C-5AA7-B3385FE5C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38948" name="Slide Number Placeholder 3">
            <a:extLst>
              <a:ext uri="{FF2B5EF4-FFF2-40B4-BE49-F238E27FC236}">
                <a16:creationId xmlns:a16="http://schemas.microsoft.com/office/drawing/2014/main" id="{4C57C214-DDBB-DA1C-89ED-E945E37DC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468C2856-C758-744D-B9AC-92CB07AC8F78}" type="slidenum">
              <a:rPr lang="en-US" altLang="it-IT" sz="1200" smtClean="0"/>
              <a:pPr eaLnBrk="1" hangingPunct="1">
                <a:defRPr/>
              </a:pPr>
              <a:t>21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>
            <a:extLst>
              <a:ext uri="{FF2B5EF4-FFF2-40B4-BE49-F238E27FC236}">
                <a16:creationId xmlns:a16="http://schemas.microsoft.com/office/drawing/2014/main" id="{62C646CF-871E-523B-BB2A-22948AF50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>
            <a:extLst>
              <a:ext uri="{FF2B5EF4-FFF2-40B4-BE49-F238E27FC236}">
                <a16:creationId xmlns:a16="http://schemas.microsoft.com/office/drawing/2014/main" id="{6C1ADE7D-1208-181C-F43D-5CB1382D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39972" name="Slide Number Placeholder 3">
            <a:extLst>
              <a:ext uri="{FF2B5EF4-FFF2-40B4-BE49-F238E27FC236}">
                <a16:creationId xmlns:a16="http://schemas.microsoft.com/office/drawing/2014/main" id="{DAB7E656-CFA7-B3FA-5886-5C08D7827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65535636-B406-8C49-B574-86316006856D}" type="slidenum">
              <a:rPr lang="en-US" altLang="it-IT" sz="1200" smtClean="0"/>
              <a:pPr eaLnBrk="1" hangingPunct="1">
                <a:defRPr/>
              </a:pPr>
              <a:t>22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>
            <a:extLst>
              <a:ext uri="{FF2B5EF4-FFF2-40B4-BE49-F238E27FC236}">
                <a16:creationId xmlns:a16="http://schemas.microsoft.com/office/drawing/2014/main" id="{62121D9E-81CF-7672-A021-641AD11E1F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>
            <a:extLst>
              <a:ext uri="{FF2B5EF4-FFF2-40B4-BE49-F238E27FC236}">
                <a16:creationId xmlns:a16="http://schemas.microsoft.com/office/drawing/2014/main" id="{C9C41966-17E9-E3F9-8AE6-B705C3B15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40996" name="Slide Number Placeholder 3">
            <a:extLst>
              <a:ext uri="{FF2B5EF4-FFF2-40B4-BE49-F238E27FC236}">
                <a16:creationId xmlns:a16="http://schemas.microsoft.com/office/drawing/2014/main" id="{BFC279CD-6A45-71BA-11BF-0FF516C94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532454D-240B-EC44-AA70-24691004C163}" type="slidenum">
              <a:rPr lang="en-US" altLang="it-IT" sz="1200" smtClean="0"/>
              <a:pPr eaLnBrk="1" hangingPunct="1">
                <a:defRPr/>
              </a:pPr>
              <a:t>24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>
            <a:extLst>
              <a:ext uri="{FF2B5EF4-FFF2-40B4-BE49-F238E27FC236}">
                <a16:creationId xmlns:a16="http://schemas.microsoft.com/office/drawing/2014/main" id="{F71B1A41-B8EC-6C45-B67F-D2042EE68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>
            <a:extLst>
              <a:ext uri="{FF2B5EF4-FFF2-40B4-BE49-F238E27FC236}">
                <a16:creationId xmlns:a16="http://schemas.microsoft.com/office/drawing/2014/main" id="{7D7A8D2B-8717-E5B5-7FC2-C2CA5BDAF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342020" name="Slide Number Placeholder 3">
            <a:extLst>
              <a:ext uri="{FF2B5EF4-FFF2-40B4-BE49-F238E27FC236}">
                <a16:creationId xmlns:a16="http://schemas.microsoft.com/office/drawing/2014/main" id="{1044FE94-1614-DC2C-EA5E-F3D0A5BE1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0AEF708E-8078-B743-B869-C564CAD06E76}" type="slidenum">
              <a:rPr lang="en-US" altLang="it-IT" sz="1200" smtClean="0"/>
              <a:pPr eaLnBrk="1" hangingPunct="1">
                <a:defRPr/>
              </a:pPr>
              <a:t>25</a:t>
            </a:fld>
            <a:endParaRPr lang="en-US" altLang="it-IT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>
            <a:extLst>
              <a:ext uri="{FF2B5EF4-FFF2-40B4-BE49-F238E27FC236}">
                <a16:creationId xmlns:a16="http://schemas.microsoft.com/office/drawing/2014/main" id="{B9B28A6A-B8E8-78DF-FD0B-8E145D4932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>
            <a:extLst>
              <a:ext uri="{FF2B5EF4-FFF2-40B4-BE49-F238E27FC236}">
                <a16:creationId xmlns:a16="http://schemas.microsoft.com/office/drawing/2014/main" id="{4121BCE0-1E82-0C86-1EBA-25CCEFB20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70B9C-BE5F-CDB4-C15B-403761320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314223F2-8FD1-CE4F-A626-03F92085BE44}" type="slidenum">
              <a:rPr lang="it-IT" altLang="it-IT" sz="1200" smtClean="0"/>
              <a:pPr eaLnBrk="1" hangingPunct="1">
                <a:defRPr/>
              </a:pPr>
              <a:t>28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>
            <a:extLst>
              <a:ext uri="{FF2B5EF4-FFF2-40B4-BE49-F238E27FC236}">
                <a16:creationId xmlns:a16="http://schemas.microsoft.com/office/drawing/2014/main" id="{2C4780A4-B6DD-709C-2849-809692FF06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>
            <a:extLst>
              <a:ext uri="{FF2B5EF4-FFF2-40B4-BE49-F238E27FC236}">
                <a16:creationId xmlns:a16="http://schemas.microsoft.com/office/drawing/2014/main" id="{DBA49E2C-A42C-D589-5255-824A096B5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3183A-1158-8D96-7131-2AE19B25B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4E3B136-5C43-7341-809F-AFCCAC0C560D}" type="slidenum">
              <a:rPr lang="it-IT" altLang="it-IT" sz="1200" smtClean="0"/>
              <a:pPr eaLnBrk="1" hangingPunct="1">
                <a:defRPr/>
              </a:pPr>
              <a:t>29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>
            <a:extLst>
              <a:ext uri="{FF2B5EF4-FFF2-40B4-BE49-F238E27FC236}">
                <a16:creationId xmlns:a16="http://schemas.microsoft.com/office/drawing/2014/main" id="{F1270EEB-F0D1-A820-7ACE-BDCA1DE0D0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Notes Placeholder 2">
            <a:extLst>
              <a:ext uri="{FF2B5EF4-FFF2-40B4-BE49-F238E27FC236}">
                <a16:creationId xmlns:a16="http://schemas.microsoft.com/office/drawing/2014/main" id="{5DAE8DB1-0EC6-8892-A24D-F8AD7AE28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F983D-246C-F859-E62F-C29EFB6BA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D0F6CDAA-9A02-2844-AA55-C06BC91D8227}" type="slidenum">
              <a:rPr lang="it-IT" altLang="it-IT" sz="1200" smtClean="0"/>
              <a:pPr eaLnBrk="1" hangingPunct="1">
                <a:defRPr/>
              </a:pPr>
              <a:t>31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>
            <a:extLst>
              <a:ext uri="{FF2B5EF4-FFF2-40B4-BE49-F238E27FC236}">
                <a16:creationId xmlns:a16="http://schemas.microsoft.com/office/drawing/2014/main" id="{ED666FBA-163E-9BCB-22AB-CEFA9FF1AE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Notes Placeholder 2">
            <a:extLst>
              <a:ext uri="{FF2B5EF4-FFF2-40B4-BE49-F238E27FC236}">
                <a16:creationId xmlns:a16="http://schemas.microsoft.com/office/drawing/2014/main" id="{BE4D0B35-7A46-8466-625F-70F3C52DF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55201-F68C-F8C5-A6F8-0131444C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5C313D0E-A32D-C940-B210-9501A6848442}" type="slidenum">
              <a:rPr lang="it-IT" altLang="it-IT" sz="1200" smtClean="0"/>
              <a:pPr eaLnBrk="1" hangingPunct="1">
                <a:defRPr/>
              </a:pPr>
              <a:t>32</a:t>
            </a:fld>
            <a:endParaRPr lang="it-IT" altLang="it-IT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>
            <a:extLst>
              <a:ext uri="{FF2B5EF4-FFF2-40B4-BE49-F238E27FC236}">
                <a16:creationId xmlns:a16="http://schemas.microsoft.com/office/drawing/2014/main" id="{4055D491-FC58-BE37-BCE8-AE53477D84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Notes Placeholder 2">
            <a:extLst>
              <a:ext uri="{FF2B5EF4-FFF2-40B4-BE49-F238E27FC236}">
                <a16:creationId xmlns:a16="http://schemas.microsoft.com/office/drawing/2014/main" id="{56151F68-0556-263D-FD16-CB62397D6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91AC6-1F9B-97D6-D9D3-19D2C89F3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0E6C1B78-0D7D-624B-98D4-A206145922D0}" type="slidenum">
              <a:rPr lang="it-IT" altLang="it-IT" sz="1200" smtClean="0"/>
              <a:pPr eaLnBrk="1" hangingPunct="1">
                <a:defRPr/>
              </a:pPr>
              <a:t>33</a:t>
            </a:fld>
            <a:endParaRPr lang="it-IT" altLang="it-IT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71C9AF-7E55-88E5-7DDC-BD0CB11D91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9725E-AEAF-90CD-04A8-079312AA4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6F898D-60FE-D2CA-0E97-5292A6AC3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2ACAE-10E1-6948-A365-E868B205CB3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222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645758-9EA1-1238-32D1-8B357A6E8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8CFC5B-4F7F-4AA5-68FE-F1228DED3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F08095-3F34-ADB7-72EA-7EC6E5A8CB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96831-021A-4C4D-AF05-A5C9C50341C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334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925DA3-8106-A3B1-DE4A-11719AF344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A56FB0-499F-F5BA-D8F8-F5B039B74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022080-BDE3-87FE-70D5-C4A136521A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84D05-D436-544B-B04D-F4220744681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5651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6D54A-2D34-783E-1ECB-03A142D302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613522-E6F6-1B56-9C97-6FF50B450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71926-E7A8-1DDD-629F-8EB52721FB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22042-5480-864B-859F-A30856AF49E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309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5347F2-8B32-0D79-2FA6-7CB5843532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35C621B-72B0-D4E6-1D0B-3AC639667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80B299-E381-629C-1351-15C123A1C5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F7147-90AA-134F-8252-8A6A8233B6E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60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11953AF-0CE0-CF96-A630-A1202930F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3FB7E40-F0F9-DEF1-1F80-03683635D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0017EF-82AA-B69A-7121-2FA774DF42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D6A88-12D2-1E4C-85D9-CB3717F9FAB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6305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E588AA6-CF89-B63A-AE5E-8C35A52486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B33CABA-7445-6FEC-EDC3-B65BA38FC8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A2AE03-689E-EB1D-C3FE-F82A9A8028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E2DF5-7C85-E540-A57C-A35CD2E119F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4568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5E47E9-41A7-99C9-9865-37C706F2C7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0E066-515A-0D78-50AF-557A65045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871DD9-DB7A-7EF5-333C-985495B26C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DC379-54B8-0748-8476-5604D841D96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7627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45B1E-54C6-A648-DA56-AC68203E7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E1A2B2-52C1-9E3C-FDEB-FC7999FA7D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DC8EB5-6067-00F4-39B1-33BD782EDF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A0729-5A2D-E942-B267-4D8E8A9CAFA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660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408A54-145D-D9B2-00EB-2A0F837F6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1B58CE-0218-47EF-B068-5D3722D900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68F56A-0F76-14A7-8F99-A1341605D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28AA9-84A8-CB47-9B50-170C1EAF88F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8898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C5EF6A-EC08-F49A-D098-23DB0483D1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F9CF1E-0628-ED3F-7AC6-FE74D02E3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F5F056-5AAB-5FE9-A266-003281BCB9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CB689-3F26-A347-B72F-5CBE398A32F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6062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8596E5-C74D-524A-BE17-AAC1D9A48D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086241-5F78-BF33-FBD0-3A82153E83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490BB-35E4-0B74-2B1E-D60E83D651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E980D-56B2-1D40-8265-AE1240797A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7559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966FF"/>
            </a:gs>
            <a:gs pos="100000">
              <a:srgbClr val="472F7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A8A482-8593-712B-39F5-98B5D4F69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8D78C4-A354-63A1-2AF4-FBA62717B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FFE1860-2EC9-7965-1CE5-C7DD68C8AB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91A5A4-AD28-6194-2D8F-B048E1534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811DC4-13AE-8874-6AC9-BDB5C63B84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3875047-FBD3-0148-860E-DC71BE60CDF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5">
            <a:extLst>
              <a:ext uri="{FF2B5EF4-FFF2-40B4-BE49-F238E27FC236}">
                <a16:creationId xmlns:a16="http://schemas.microsoft.com/office/drawing/2014/main" id="{425B5919-3181-B514-858B-7EE3C1176AFE}"/>
              </a:ext>
            </a:extLst>
          </p:cNvPr>
          <p:cNvGrpSpPr>
            <a:grpSpLocks/>
          </p:cNvGrpSpPr>
          <p:nvPr/>
        </p:nvGrpSpPr>
        <p:grpSpPr bwMode="auto">
          <a:xfrm>
            <a:off x="446088" y="-26988"/>
            <a:ext cx="8274050" cy="6696076"/>
            <a:chOff x="446088" y="-26988"/>
            <a:chExt cx="8274050" cy="6696076"/>
          </a:xfrm>
        </p:grpSpPr>
        <p:sp>
          <p:nvSpPr>
            <p:cNvPr id="3" name="Rettangolo 3">
              <a:extLst>
                <a:ext uri="{FF2B5EF4-FFF2-40B4-BE49-F238E27FC236}">
                  <a16:creationId xmlns:a16="http://schemas.microsoft.com/office/drawing/2014/main" id="{93CD9746-8010-C0F8-E7A1-8A378A8FC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88" y="2205038"/>
              <a:ext cx="8274050" cy="4464050"/>
            </a:xfrm>
            <a:prstGeom prst="rect">
              <a:avLst/>
            </a:prstGeom>
            <a:solidFill>
              <a:srgbClr val="EB3013"/>
            </a:solidFill>
            <a:ln>
              <a:noFill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it-IT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364" name="Titolo 1">
              <a:extLst>
                <a:ext uri="{FF2B5EF4-FFF2-40B4-BE49-F238E27FC236}">
                  <a16:creationId xmlns:a16="http://schemas.microsoft.com/office/drawing/2014/main" id="{41B5AEF2-D1A7-877A-B269-7DD50ADC3AC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11175" y="2060575"/>
              <a:ext cx="8178800" cy="216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lnSpc>
                  <a:spcPts val="4475"/>
                </a:lnSpc>
                <a:spcBef>
                  <a:spcPct val="0"/>
                </a:spcBef>
                <a:buFontTx/>
                <a:buNone/>
              </a:pPr>
              <a:r>
                <a:rPr lang="it-IT" altLang="it-IT" sz="2400">
                  <a:solidFill>
                    <a:schemeClr val="bg1"/>
                  </a:solidFill>
                  <a:latin typeface="Helvetica Neue" panose="02000503000000020004" pitchFamily="2" charset="0"/>
                </a:rPr>
                <a:t>E' vietata la copia e la riproduzione dei contenuti e immagini in qualsiasi forma. E' inoltre vietata la redistribuzione e la pubblicazione dei contenuti e immagini non autorizzata espressamente dall'autore o dall'Università di Modena e Reggio Emilia.</a:t>
              </a:r>
            </a:p>
          </p:txBody>
        </p:sp>
        <p:sp>
          <p:nvSpPr>
            <p:cNvPr id="15365" name="Sottotitolo 2">
              <a:extLst>
                <a:ext uri="{FF2B5EF4-FFF2-40B4-BE49-F238E27FC236}">
                  <a16:creationId xmlns:a16="http://schemas.microsoft.com/office/drawing/2014/main" id="{E97F8B16-0B0B-B15C-7A49-C8B18702A96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11288" y="5445125"/>
              <a:ext cx="6400800" cy="627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3125"/>
                </a:lnSpc>
                <a:buFontTx/>
                <a:buNone/>
              </a:pPr>
              <a:r>
                <a:rPr lang="it-IT" altLang="it-IT" sz="2400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Corso di Biochimica. Dietisti </a:t>
              </a:r>
            </a:p>
            <a:p>
              <a:pPr algn="ctr">
                <a:lnSpc>
                  <a:spcPts val="3125"/>
                </a:lnSpc>
                <a:buFontTx/>
                <a:buNone/>
              </a:pPr>
              <a:r>
                <a:rPr lang="it-IT" altLang="it-IT" sz="2400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Docente: D</a:t>
              </a:r>
              <a:r>
                <a:rPr lang="it-IT" altLang="en-US" sz="2400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’</a:t>
              </a:r>
              <a:r>
                <a:rPr lang="it-IT" altLang="it-IT" sz="2400" dirty="0">
                  <a:solidFill>
                    <a:srgbClr val="FFFFFF"/>
                  </a:solidFill>
                  <a:latin typeface="Helvetica Neue LT Std 55 Roman" panose="02000503000000020004" pitchFamily="2" charset="0"/>
                </a:rPr>
                <a:t>Arca Domenico</a:t>
              </a:r>
            </a:p>
          </p:txBody>
        </p:sp>
        <p:pic>
          <p:nvPicPr>
            <p:cNvPr id="15366" name="Immagine 4">
              <a:extLst>
                <a:ext uri="{FF2B5EF4-FFF2-40B4-BE49-F238E27FC236}">
                  <a16:creationId xmlns:a16="http://schemas.microsoft.com/office/drawing/2014/main" id="{61F6BA3D-BD10-1EFE-0394-3629C8173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0325" y="-26988"/>
              <a:ext cx="4945063" cy="3219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BFA9677A-DDA8-4ECC-6649-3CBF161A9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GLI ENZIMI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F83EAC8B-AC1E-73DC-F224-924785361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Sono catalizzatori proteici che fanno aumentare la velocita</a:t>
            </a:r>
            <a:r>
              <a:rPr lang="en-US" altLang="en-US">
                <a:solidFill>
                  <a:srgbClr val="FFFF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 di una reazione rimanendo immutati</a:t>
            </a:r>
          </a:p>
          <a:p>
            <a:pPr eaLnBrk="1" hangingPunct="1">
              <a:buFontTx/>
              <a:buNone/>
            </a:pPr>
            <a:endParaRPr lang="en-US" altLang="it-IT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Sono coinvolti in vie metaboliche utili</a:t>
            </a:r>
          </a:p>
          <a:p>
            <a:pPr eaLnBrk="1" hangingPunct="1">
              <a:buFontTx/>
              <a:buNone/>
            </a:pPr>
            <a:endParaRPr lang="en-US" altLang="it-IT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Controllano quindi tutti gli eventi metabolici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09599665-CDC0-7FDE-1BB2-ABA76CCBB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NOMENCLATURA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09C6E3B3-B497-334A-F196-A79B40B041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412875"/>
            <a:ext cx="9144000" cy="4114800"/>
          </a:xfrm>
        </p:spPr>
        <p:txBody>
          <a:bodyPr/>
          <a:lstStyle/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Ad ogni enzima gli viene attribuito un </a:t>
            </a:r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nome corrente 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(breve e di uso abituale) ed un</a:t>
            </a:r>
            <a:r>
              <a:rPr lang="en-US" altLang="it-IT" sz="2800">
                <a:ea typeface="ＭＳ Ｐゴシック" panose="020B0600070205080204" pitchFamily="34" charset="-128"/>
              </a:rPr>
              <a:t> </a:t>
            </a:r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nome sistematico 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(completo,identificandoli senza ambiguita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it-IT" sz="2800">
                <a:solidFill>
                  <a:srgbClr val="FFFF00"/>
                </a:solidFill>
                <a:ea typeface="ＭＳ Ｐゴシック" panose="020B0600070205080204" pitchFamily="34" charset="-128"/>
              </a:rPr>
              <a:t>Nome 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corrente: 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Gli enzimi portano il suffisso 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-asi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 unito al nome del substrato (Es: </a:t>
            </a:r>
            <a:r>
              <a:rPr lang="en-US" altLang="it-IT" sz="2800" i="1">
                <a:solidFill>
                  <a:schemeClr val="bg1"/>
                </a:solidFill>
                <a:ea typeface="ＭＳ Ｐゴシック" panose="020B0600070205080204" pitchFamily="34" charset="-128"/>
              </a:rPr>
              <a:t>glucosidasi, ureasi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, ecc…)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Possono anche avere un nome che descrive 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azione dell</a:t>
            </a:r>
            <a:r>
              <a:rPr lang="en-US" altLang="en-US" sz="28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enzima stesso (ES: </a:t>
            </a:r>
            <a:r>
              <a:rPr lang="en-US" altLang="it-IT" sz="2800" i="1">
                <a:solidFill>
                  <a:schemeClr val="bg1"/>
                </a:solidFill>
                <a:ea typeface="ＭＳ Ｐゴシック" panose="020B0600070205080204" pitchFamily="34" charset="-128"/>
              </a:rPr>
              <a:t>adenilato ciclasi, lattato deidrogenasi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, ecc…)</a:t>
            </a:r>
          </a:p>
          <a:p>
            <a:pPr eaLnBrk="1" hangingPunct="1"/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Alcune eccezioni di enzimi che portano nomi indipendenti dalla reazione associata (ES: </a:t>
            </a:r>
            <a:r>
              <a:rPr lang="en-US" altLang="it-IT" sz="2800" i="1">
                <a:solidFill>
                  <a:schemeClr val="bg1"/>
                </a:solidFill>
                <a:ea typeface="ＭＳ Ｐゴシック" panose="020B0600070205080204" pitchFamily="34" charset="-128"/>
              </a:rPr>
              <a:t>tripsina, pepsina</a:t>
            </a:r>
            <a:r>
              <a:rPr lang="en-US" altLang="it-IT" sz="2800">
                <a:solidFill>
                  <a:schemeClr val="bg1"/>
                </a:solidFill>
                <a:ea typeface="ＭＳ Ｐゴシック" panose="020B0600070205080204" pitchFamily="34" charset="-128"/>
              </a:rPr>
              <a:t>, ecc…)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Content Placeholder 2">
            <a:extLst>
              <a:ext uri="{FF2B5EF4-FFF2-40B4-BE49-F238E27FC236}">
                <a16:creationId xmlns:a16="http://schemas.microsoft.com/office/drawing/2014/main" id="{9F21F055-8455-7C80-D9E9-FABFCF3E4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3050"/>
            <a:ext cx="3505200" cy="6324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Nome sistematico</a:t>
            </a:r>
            <a:r>
              <a:rPr lang="en-US" altLang="it-IT" sz="2700">
                <a:solidFill>
                  <a:schemeClr val="bg1"/>
                </a:solidFill>
                <a:ea typeface="ＭＳ Ｐゴシック" panose="020B0600070205080204" pitchFamily="34" charset="-128"/>
              </a:rPr>
              <a:t>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2700" i="1">
                <a:solidFill>
                  <a:schemeClr val="bg1"/>
                </a:solidFill>
                <a:ea typeface="ＭＳ Ｐゴシック" panose="020B0600070205080204" pitchFamily="34" charset="-128"/>
              </a:rPr>
              <a:t>International Union of Biochemistry and Molecular Biology </a:t>
            </a:r>
            <a:r>
              <a:rPr lang="en-US" altLang="it-IT" sz="2700">
                <a:solidFill>
                  <a:schemeClr val="bg1"/>
                </a:solidFill>
                <a:ea typeface="ＭＳ Ｐゴシック" panose="020B0600070205080204" pitchFamily="34" charset="-128"/>
              </a:rPr>
              <a:t>(IUBMB) suddivide gli enzimi in </a:t>
            </a:r>
            <a:r>
              <a:rPr lang="en-US" altLang="it-IT" sz="2700" b="1">
                <a:solidFill>
                  <a:schemeClr val="bg1"/>
                </a:solidFill>
                <a:ea typeface="ＭＳ Ｐゴシック" panose="020B0600070205080204" pitchFamily="34" charset="-128"/>
              </a:rPr>
              <a:t>6 CLASSI </a:t>
            </a:r>
            <a:r>
              <a:rPr lang="en-US" altLang="it-IT" sz="2700">
                <a:solidFill>
                  <a:schemeClr val="bg1"/>
                </a:solidFill>
                <a:ea typeface="ＭＳ Ｐゴシック" panose="020B0600070205080204" pitchFamily="34" charset="-128"/>
              </a:rPr>
              <a:t>principali, alle quali appartengono numerose </a:t>
            </a:r>
            <a:r>
              <a:rPr lang="en-US" altLang="it-IT" sz="2700" b="1">
                <a:solidFill>
                  <a:schemeClr val="bg1"/>
                </a:solidFill>
                <a:ea typeface="ＭＳ Ｐゴシック" panose="020B0600070205080204" pitchFamily="34" charset="-128"/>
              </a:rPr>
              <a:t>SOTTOCLASSI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it-IT" sz="27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it-IT" sz="2700">
                <a:solidFill>
                  <a:schemeClr val="bg1"/>
                </a:solidFill>
                <a:ea typeface="ＭＳ Ｐゴシック" panose="020B0600070205080204" pitchFamily="34" charset="-128"/>
              </a:rPr>
              <a:t>Il suffisso –asi e</a:t>
            </a:r>
            <a:r>
              <a:rPr lang="en-US" altLang="en-US" sz="27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700">
                <a:solidFill>
                  <a:schemeClr val="bg1"/>
                </a:solidFill>
                <a:ea typeface="ＭＳ Ｐゴシック" panose="020B0600070205080204" pitchFamily="34" charset="-128"/>
              </a:rPr>
              <a:t> seguito dalla descrizione della reazione la quale catalizzano</a:t>
            </a:r>
            <a:endParaRPr lang="en-US" altLang="it-IT" sz="2700" i="1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2530" name="Picture 2" descr="0501 Enzyme classification">
            <a:extLst>
              <a:ext uri="{FF2B5EF4-FFF2-40B4-BE49-F238E27FC236}">
                <a16:creationId xmlns:a16="http://schemas.microsoft.com/office/drawing/2014/main" id="{841D5357-82E1-C8DF-DE21-0F113AECA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127000"/>
            <a:ext cx="3811587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1">
            <a:extLst>
              <a:ext uri="{FF2B5EF4-FFF2-40B4-BE49-F238E27FC236}">
                <a16:creationId xmlns:a16="http://schemas.microsoft.com/office/drawing/2014/main" id="{E3C7E0EA-2C4A-646E-4E19-55FE3D502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1">
            <a:extLst>
              <a:ext uri="{FF2B5EF4-FFF2-40B4-BE49-F238E27FC236}">
                <a16:creationId xmlns:a16="http://schemas.microsoft.com/office/drawing/2014/main" id="{BC283411-B825-9EA3-3224-09D5F8601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enzimi generali 2">
            <a:extLst>
              <a:ext uri="{FF2B5EF4-FFF2-40B4-BE49-F238E27FC236}">
                <a16:creationId xmlns:a16="http://schemas.microsoft.com/office/drawing/2014/main" id="{463FBD2A-562E-7422-DF09-749D7CF49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15963"/>
            <a:ext cx="7643813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4">
            <a:extLst>
              <a:ext uri="{FF2B5EF4-FFF2-40B4-BE49-F238E27FC236}">
                <a16:creationId xmlns:a16="http://schemas.microsoft.com/office/drawing/2014/main" id="{238E6D2B-79CA-FDE5-E487-00E1B7EA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534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it-IT" altLang="it-IT" sz="4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OBIETTIVI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57DCD1CB-6DED-69DB-BC43-2BB35851A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400" y="5302250"/>
            <a:ext cx="9372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it-IT" altLang="it-IT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Tutte le trasformazioni chimiche degli organismi viventi avvengono in presenza di ENZIMI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  <p:bldP spid="717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2">
            <a:extLst>
              <a:ext uri="{FF2B5EF4-FFF2-40B4-BE49-F238E27FC236}">
                <a16:creationId xmlns:a16="http://schemas.microsoft.com/office/drawing/2014/main" id="{E460545D-B220-5823-C4A3-B7106360331F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260350"/>
            <a:ext cx="9109075" cy="5619750"/>
            <a:chOff x="22" y="162"/>
            <a:chExt cx="5738" cy="3540"/>
          </a:xfrm>
        </p:grpSpPr>
        <p:pic>
          <p:nvPicPr>
            <p:cNvPr id="29698" name="Picture 3" descr="enzyme">
              <a:extLst>
                <a:ext uri="{FF2B5EF4-FFF2-40B4-BE49-F238E27FC236}">
                  <a16:creationId xmlns:a16="http://schemas.microsoft.com/office/drawing/2014/main" id="{19612595-DA86-BDCD-D3A5-7F6EA9738598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268"/>
              <a:ext cx="4307" cy="2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16" name="Text Box 4">
              <a:extLst>
                <a:ext uri="{FF2B5EF4-FFF2-40B4-BE49-F238E27FC236}">
                  <a16:creationId xmlns:a16="http://schemas.microsoft.com/office/drawing/2014/main" id="{259E3E33-ECED-E122-08E3-2739E8BDD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62"/>
              <a:ext cx="5738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Le reazioni catalizzate dagli enzimi avvengono all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interno di una cavità, detta </a:t>
              </a:r>
              <a:r>
                <a:rPr lang="it-IT" altLang="ja-JP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sito attivo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in cui si crea un microambiente specifico che favorisce energeticamente reazioni che nell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ambiente cellulare sarebbero poco probabili</a:t>
              </a:r>
              <a:endParaRPr lang="it-IT" altLang="it-IT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Enzimi 9">
            <a:extLst>
              <a:ext uri="{FF2B5EF4-FFF2-40B4-BE49-F238E27FC236}">
                <a16:creationId xmlns:a16="http://schemas.microsoft.com/office/drawing/2014/main" id="{3ABCA12A-664E-95FD-C915-15C90246D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57200"/>
            <a:ext cx="4178300" cy="595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Text Box 3">
            <a:extLst>
              <a:ext uri="{FF2B5EF4-FFF2-40B4-BE49-F238E27FC236}">
                <a16:creationId xmlns:a16="http://schemas.microsoft.com/office/drawing/2014/main" id="{48B625CE-2F2D-3D65-9321-E9C2C5197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93700"/>
            <a:ext cx="441960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La regione di un enzima che interagisce specificamente con il substrato si definisce SITO ATTIVO o SITO CATALITICO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E75B80-D749-7893-2F26-06625AE42582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3273425"/>
            <a:ext cx="4724400" cy="2895600"/>
            <a:chOff x="2784" y="2062"/>
            <a:chExt cx="2976" cy="1824"/>
          </a:xfrm>
        </p:grpSpPr>
        <p:sp>
          <p:nvSpPr>
            <p:cNvPr id="65541" name="Text Box 5">
              <a:extLst>
                <a:ext uri="{FF2B5EF4-FFF2-40B4-BE49-F238E27FC236}">
                  <a16:creationId xmlns:a16="http://schemas.microsoft.com/office/drawing/2014/main" id="{1FF51654-C7BE-E392-34DE-5825C26127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48"/>
              <a:ext cx="2784" cy="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Parte relativamente piccola della molecola dell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enzima</a:t>
              </a:r>
            </a:p>
            <a:p>
              <a:pPr eaLnBrk="1" hangingPunct="1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Tasca non polare</a:t>
              </a:r>
            </a:p>
            <a:p>
              <a:pPr eaLnBrk="1" hangingPunct="1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Il legame E-S avviene almeno in tre punti</a:t>
              </a:r>
            </a:p>
          </p:txBody>
        </p:sp>
        <p:sp>
          <p:nvSpPr>
            <p:cNvPr id="65542" name="Text Box 6">
              <a:extLst>
                <a:ext uri="{FF2B5EF4-FFF2-40B4-BE49-F238E27FC236}">
                  <a16:creationId xmlns:a16="http://schemas.microsoft.com/office/drawing/2014/main" id="{DF49FE79-F86A-E792-C3D5-D4271632E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062"/>
              <a:ext cx="26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CARATTERISTICHE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1">
            <a:extLst>
              <a:ext uri="{FF2B5EF4-FFF2-40B4-BE49-F238E27FC236}">
                <a16:creationId xmlns:a16="http://schemas.microsoft.com/office/drawing/2014/main" id="{C08FD5B4-683D-926C-1FE4-751F03FDD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8400"/>
            <a:ext cx="9144000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1">
            <a:extLst>
              <a:ext uri="{FF2B5EF4-FFF2-40B4-BE49-F238E27FC236}">
                <a16:creationId xmlns:a16="http://schemas.microsoft.com/office/drawing/2014/main" id="{4432C293-FAB9-37AB-1CEA-6673BD031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200"/>
            <a:ext cx="9144000" cy="642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>
            <a:extLst>
              <a:ext uri="{FF2B5EF4-FFF2-40B4-BE49-F238E27FC236}">
                <a16:creationId xmlns:a16="http://schemas.microsoft.com/office/drawing/2014/main" id="{A92CC965-A625-E0BB-39F0-2F2FD02061CA}"/>
              </a:ext>
            </a:extLst>
          </p:cNvPr>
          <p:cNvGrpSpPr>
            <a:grpSpLocks/>
          </p:cNvGrpSpPr>
          <p:nvPr/>
        </p:nvGrpSpPr>
        <p:grpSpPr bwMode="auto">
          <a:xfrm>
            <a:off x="0" y="152400"/>
            <a:ext cx="9372600" cy="6537325"/>
            <a:chOff x="0" y="96"/>
            <a:chExt cx="5904" cy="4118"/>
          </a:xfrm>
        </p:grpSpPr>
        <p:pic>
          <p:nvPicPr>
            <p:cNvPr id="39938" name="Picture 2" descr="Cinetica enzimi 1">
              <a:extLst>
                <a:ext uri="{FF2B5EF4-FFF2-40B4-BE49-F238E27FC236}">
                  <a16:creationId xmlns:a16="http://schemas.microsoft.com/office/drawing/2014/main" id="{3B3FCB2B-E6DD-7B18-BB35-F18878551C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344"/>
              <a:ext cx="3396" cy="2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5" name="Text Box 3">
              <a:extLst>
                <a:ext uri="{FF2B5EF4-FFF2-40B4-BE49-F238E27FC236}">
                  <a16:creationId xmlns:a16="http://schemas.microsoft.com/office/drawing/2014/main" id="{4F731C9D-1ED7-C03C-D915-429C20CD1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96"/>
              <a:ext cx="5760" cy="1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La prima condizione che deve essere soddisfatta affinchè una reazione chimica possa avere luogo è che 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basale delle molecole che vanno incontro alla reazione sia superiore a quella posseduta dalle molecole che si producono nella reazione</a:t>
              </a:r>
              <a:endParaRPr lang="it-IT" altLang="it-IT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39940" name="Group 12">
              <a:extLst>
                <a:ext uri="{FF2B5EF4-FFF2-40B4-BE49-F238E27FC236}">
                  <a16:creationId xmlns:a16="http://schemas.microsoft.com/office/drawing/2014/main" id="{762D3860-43C5-52E6-C756-7361BB0120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104"/>
              <a:ext cx="1200" cy="365"/>
              <a:chOff x="3840" y="1584"/>
              <a:chExt cx="1200" cy="365"/>
            </a:xfrm>
          </p:grpSpPr>
          <p:sp>
            <p:nvSpPr>
              <p:cNvPr id="3076" name="Text Box 4">
                <a:extLst>
                  <a:ext uri="{FF2B5EF4-FFF2-40B4-BE49-F238E27FC236}">
                    <a16:creationId xmlns:a16="http://schemas.microsoft.com/office/drawing/2014/main" id="{0C5EED3C-BFA4-D389-5B9C-9F8CAEB788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1584"/>
                <a:ext cx="288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32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S</a:t>
                </a:r>
              </a:p>
            </p:txBody>
          </p:sp>
          <p:sp>
            <p:nvSpPr>
              <p:cNvPr id="3077" name="AutoShape 5">
                <a:extLst>
                  <a:ext uri="{FF2B5EF4-FFF2-40B4-BE49-F238E27FC236}">
                    <a16:creationId xmlns:a16="http://schemas.microsoft.com/office/drawing/2014/main" id="{00D96F12-0F6A-5CDD-596B-9C45107E9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680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3079" name="AutoShape 7">
                <a:extLst>
                  <a:ext uri="{FF2B5EF4-FFF2-40B4-BE49-F238E27FC236}">
                    <a16:creationId xmlns:a16="http://schemas.microsoft.com/office/drawing/2014/main" id="{06F70FAE-BDEB-7B4C-385F-A4D1B0493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1776"/>
                <a:ext cx="384" cy="96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3080" name="Text Box 8">
                <a:extLst>
                  <a:ext uri="{FF2B5EF4-FFF2-40B4-BE49-F238E27FC236}">
                    <a16:creationId xmlns:a16="http://schemas.microsoft.com/office/drawing/2014/main" id="{BBD3915E-D654-5BEE-F5AF-0A5DD2A276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1584"/>
                <a:ext cx="432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32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P</a:t>
                </a:r>
              </a:p>
            </p:txBody>
          </p:sp>
        </p:grpSp>
        <p:sp>
          <p:nvSpPr>
            <p:cNvPr id="3082" name="Text Box 10">
              <a:extLst>
                <a:ext uri="{FF2B5EF4-FFF2-40B4-BE49-F238E27FC236}">
                  <a16:creationId xmlns:a16="http://schemas.microsoft.com/office/drawing/2014/main" id="{6BC2BBD7-9881-F847-DDFB-6F2391DD8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440"/>
              <a:ext cx="196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+mn-ea"/>
                </a:rPr>
                <a:t>G</a:t>
              </a:r>
              <a:r>
                <a:rPr lang="it-IT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+mn-ea"/>
                </a:rPr>
                <a:t>01</a:t>
              </a:r>
              <a:r>
                <a:rPr 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+mn-ea"/>
                </a:rPr>
                <a:t>S &gt; G</a:t>
              </a:r>
              <a:r>
                <a:rPr lang="it-IT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+mn-ea"/>
                </a:rPr>
                <a:t>01</a:t>
              </a:r>
              <a:r>
                <a:rPr 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+mn-ea"/>
                </a:rPr>
                <a:t>P</a:t>
              </a:r>
              <a:endParaRPr lang="it-IT" sz="3200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endParaRPr>
            </a:p>
          </p:txBody>
        </p:sp>
        <p:sp>
          <p:nvSpPr>
            <p:cNvPr id="3083" name="Text Box 11">
              <a:extLst>
                <a:ext uri="{FF2B5EF4-FFF2-40B4-BE49-F238E27FC236}">
                  <a16:creationId xmlns:a16="http://schemas.microsoft.com/office/drawing/2014/main" id="{E39E9693-CF87-D10A-0B06-AB84D38D9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76"/>
              <a:ext cx="235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ΔG</a:t>
              </a:r>
              <a:r>
                <a:rPr lang="it-IT" altLang="it-IT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</a:t>
              </a:r>
              <a:r>
                <a:rPr lang="it-IT" alt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=G</a:t>
              </a:r>
              <a:r>
                <a:rPr lang="it-IT" altLang="it-IT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</a:t>
              </a:r>
              <a:r>
                <a:rPr lang="it-IT" alt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P-G</a:t>
              </a:r>
              <a:r>
                <a:rPr lang="it-IT" altLang="it-IT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</a:t>
              </a:r>
              <a:r>
                <a:rPr lang="it-IT" altLang="it-IT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endParaRPr lang="it-IT" altLang="it-IT" sz="3200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85" name="Text Box 13">
              <a:extLst>
                <a:ext uri="{FF2B5EF4-FFF2-40B4-BE49-F238E27FC236}">
                  <a16:creationId xmlns:a16="http://schemas.microsoft.com/office/drawing/2014/main" id="{100C5BD4-49D7-3764-8DB1-216F0CC96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197"/>
              <a:ext cx="2352" cy="1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Quando il ΔG</a:t>
              </a:r>
              <a:r>
                <a:rPr lang="it-IT" altLang="it-IT" sz="28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 </a:t>
              </a:r>
              <a:r>
                <a: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è negativo la reazione è ESOERGONICA e termodinamicamente SPONTANEA</a:t>
              </a:r>
              <a:endParaRPr lang="it-IT" altLang="it-IT" sz="2800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86" name="Text Box 14">
              <a:extLst>
                <a:ext uri="{FF2B5EF4-FFF2-40B4-BE49-F238E27FC236}">
                  <a16:creationId xmlns:a16="http://schemas.microsoft.com/office/drawing/2014/main" id="{4E36297D-C8A2-5D9E-3934-C80C7DFC2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696"/>
              <a:ext cx="5712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equilibrio tra S e P è una funzione della differenza di energia libera dei due componenti ai loro stati basali</a:t>
              </a:r>
              <a:endParaRPr lang="it-IT" altLang="it-IT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>
            <a:extLst>
              <a:ext uri="{FF2B5EF4-FFF2-40B4-BE49-F238E27FC236}">
                <a16:creationId xmlns:a16="http://schemas.microsoft.com/office/drawing/2014/main" id="{C9C07718-44D1-7707-D027-8315020B6FE9}"/>
              </a:ext>
            </a:extLst>
          </p:cNvPr>
          <p:cNvGrpSpPr>
            <a:grpSpLocks/>
          </p:cNvGrpSpPr>
          <p:nvPr/>
        </p:nvGrpSpPr>
        <p:grpSpPr bwMode="auto">
          <a:xfrm>
            <a:off x="-36513" y="152400"/>
            <a:ext cx="9432926" cy="6705600"/>
            <a:chOff x="-23" y="96"/>
            <a:chExt cx="5942" cy="4224"/>
          </a:xfrm>
        </p:grpSpPr>
        <p:sp>
          <p:nvSpPr>
            <p:cNvPr id="4099" name="AutoShape 3">
              <a:extLst>
                <a:ext uri="{FF2B5EF4-FFF2-40B4-BE49-F238E27FC236}">
                  <a16:creationId xmlns:a16="http://schemas.microsoft.com/office/drawing/2014/main" id="{1E1BC931-DF17-2236-C2DF-52BCCFD46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480"/>
              <a:ext cx="336" cy="96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endParaRPr>
            </a:p>
          </p:txBody>
        </p:sp>
        <p:grpSp>
          <p:nvGrpSpPr>
            <p:cNvPr id="41987" name="Group 14">
              <a:extLst>
                <a:ext uri="{FF2B5EF4-FFF2-40B4-BE49-F238E27FC236}">
                  <a16:creationId xmlns:a16="http://schemas.microsoft.com/office/drawing/2014/main" id="{E41D616C-EDCD-51FF-1F08-1F7C3CB92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3" y="96"/>
              <a:ext cx="5942" cy="4224"/>
              <a:chOff x="-23" y="96"/>
              <a:chExt cx="5942" cy="4224"/>
            </a:xfrm>
          </p:grpSpPr>
          <p:sp>
            <p:nvSpPr>
              <p:cNvPr id="4100" name="Text Box 4">
                <a:extLst>
                  <a:ext uri="{FF2B5EF4-FFF2-40B4-BE49-F238E27FC236}">
                    <a16:creationId xmlns:a16="http://schemas.microsoft.com/office/drawing/2014/main" id="{1DCBF63D-A317-C58E-0440-166E7E2929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336"/>
                <a:ext cx="2016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32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P </a:t>
                </a:r>
                <a:r>
                  <a:rPr lang="it-IT" altLang="it-IT" sz="2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sia elevata. La </a:t>
                </a:r>
              </a:p>
            </p:txBody>
          </p:sp>
          <p:grpSp>
            <p:nvGrpSpPr>
              <p:cNvPr id="41989" name="Group 13">
                <a:extLst>
                  <a:ext uri="{FF2B5EF4-FFF2-40B4-BE49-F238E27FC236}">
                    <a16:creationId xmlns:a16="http://schemas.microsoft.com/office/drawing/2014/main" id="{AADFFA03-CE9A-0940-3061-F33C604A9D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3" y="96"/>
                <a:ext cx="5942" cy="4224"/>
                <a:chOff x="-23" y="96"/>
                <a:chExt cx="5942" cy="4224"/>
              </a:xfrm>
            </p:grpSpPr>
            <p:sp>
              <p:nvSpPr>
                <p:cNvPr id="4098" name="Text Box 2">
                  <a:extLst>
                    <a:ext uri="{FF2B5EF4-FFF2-40B4-BE49-F238E27FC236}">
                      <a16:creationId xmlns:a16="http://schemas.microsoft.com/office/drawing/2014/main" id="{06E80319-E06C-8908-D07C-26D05108B2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96"/>
                  <a:ext cx="5760" cy="5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Se un equilibrio è favorevole non significa però che la velocità della conversione S</a:t>
                  </a:r>
                </a:p>
              </p:txBody>
            </p:sp>
            <p:sp>
              <p:nvSpPr>
                <p:cNvPr id="4102" name="Text Box 6">
                  <a:extLst>
                    <a:ext uri="{FF2B5EF4-FFF2-40B4-BE49-F238E27FC236}">
                      <a16:creationId xmlns:a16="http://schemas.microsoft.com/office/drawing/2014/main" id="{3AF77BBC-2EA9-2CAA-9BDA-56D79474D1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672"/>
                  <a:ext cx="5760" cy="5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velocità della reazione dipende da un parametro completamente diverso</a:t>
                  </a:r>
                </a:p>
              </p:txBody>
            </p:sp>
            <p:pic>
              <p:nvPicPr>
                <p:cNvPr id="41992" name="Picture 7" descr="cinetica enzimi 2">
                  <a:extLst>
                    <a:ext uri="{FF2B5EF4-FFF2-40B4-BE49-F238E27FC236}">
                      <a16:creationId xmlns:a16="http://schemas.microsoft.com/office/drawing/2014/main" id="{562E0BF6-5C95-BACD-43D1-168E42CD6F0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23" y="1661"/>
                  <a:ext cx="3090" cy="2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05" name="Text Box 9">
                  <a:extLst>
                    <a:ext uri="{FF2B5EF4-FFF2-40B4-BE49-F238E27FC236}">
                      <a16:creationId xmlns:a16="http://schemas.microsoft.com/office/drawing/2014/main" id="{3353A983-5BDD-D4D7-8EB1-0BFF998457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2" y="1152"/>
                  <a:ext cx="2592" cy="5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Tra S e P esiste una barriera energetica.</a:t>
                  </a:r>
                </a:p>
              </p:txBody>
            </p:sp>
            <p:sp>
              <p:nvSpPr>
                <p:cNvPr id="4106" name="Text Box 10">
                  <a:extLst>
                    <a:ext uri="{FF2B5EF4-FFF2-40B4-BE49-F238E27FC236}">
                      <a16:creationId xmlns:a16="http://schemas.microsoft.com/office/drawing/2014/main" id="{DE4A93AD-A828-08EF-5003-932421CB73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39" y="1776"/>
                  <a:ext cx="2880" cy="16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 dirty="0"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Per fare avvenire la reazione le molecole devono superare questa barriera e raggiungere un livello energetico più alto.</a:t>
                  </a:r>
                </a:p>
              </p:txBody>
            </p:sp>
            <p:sp>
              <p:nvSpPr>
                <p:cNvPr id="4107" name="Text Box 11">
                  <a:extLst>
                    <a:ext uri="{FF2B5EF4-FFF2-40B4-BE49-F238E27FC236}">
                      <a16:creationId xmlns:a16="http://schemas.microsoft.com/office/drawing/2014/main" id="{C8DEDA65-09A3-A51B-F300-E13AF1CB93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2" y="3455"/>
                  <a:ext cx="2496" cy="8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Questo punto viene chiamato STATO DI TRANSIZIONE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7F0C2FE4-D6FF-947D-F79F-4F310949706D}"/>
              </a:ext>
            </a:extLst>
          </p:cNvPr>
          <p:cNvGrpSpPr>
            <a:grpSpLocks/>
          </p:cNvGrpSpPr>
          <p:nvPr/>
        </p:nvGrpSpPr>
        <p:grpSpPr bwMode="auto">
          <a:xfrm>
            <a:off x="0" y="981075"/>
            <a:ext cx="9144000" cy="3251200"/>
            <a:chOff x="0" y="932"/>
            <a:chExt cx="5760" cy="2048"/>
          </a:xfrm>
        </p:grpSpPr>
        <p:sp>
          <p:nvSpPr>
            <p:cNvPr id="58372" name="Rectangle 4">
              <a:extLst>
                <a:ext uri="{FF2B5EF4-FFF2-40B4-BE49-F238E27FC236}">
                  <a16:creationId xmlns:a16="http://schemas.microsoft.com/office/drawing/2014/main" id="{4E5D7AF8-53A6-BD2B-560D-A65B69F58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115"/>
              <a:ext cx="5489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La </a:t>
              </a:r>
              <a:r>
                <a: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velocità di una reazione chimica</a:t>
              </a: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è inversamente proporzionale, al valore dello stato di transizione</a:t>
              </a:r>
            </a:p>
          </p:txBody>
        </p:sp>
        <p:sp>
          <p:nvSpPr>
            <p:cNvPr id="58373" name="Rectangle 5">
              <a:extLst>
                <a:ext uri="{FF2B5EF4-FFF2-40B4-BE49-F238E27FC236}">
                  <a16:creationId xmlns:a16="http://schemas.microsoft.com/office/drawing/2014/main" id="{AA91D4C4-4A71-EE8E-E0D0-CA7B59E8F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32"/>
              <a:ext cx="5760" cy="1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r>
                <a: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STATO DI TRANSIZIONE</a:t>
              </a: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= rappresenta una situazione intermedia instabile del substrato in cui nuovi legami chimici si stanno formando mentre alcuni legami presistenti si stanno rompendo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6D2D5C2A-5F0B-CBAA-F777-A0F128A759DB}"/>
              </a:ext>
            </a:extLst>
          </p:cNvPr>
          <p:cNvGrpSpPr>
            <a:grpSpLocks/>
          </p:cNvGrpSpPr>
          <p:nvPr/>
        </p:nvGrpSpPr>
        <p:grpSpPr bwMode="auto">
          <a:xfrm>
            <a:off x="0" y="304800"/>
            <a:ext cx="9677400" cy="6437313"/>
            <a:chOff x="0" y="192"/>
            <a:chExt cx="6096" cy="4055"/>
          </a:xfrm>
        </p:grpSpPr>
        <p:pic>
          <p:nvPicPr>
            <p:cNvPr id="46082" name="Picture 2" descr="cinetica enzimi 3">
              <a:extLst>
                <a:ext uri="{FF2B5EF4-FFF2-40B4-BE49-F238E27FC236}">
                  <a16:creationId xmlns:a16="http://schemas.microsoft.com/office/drawing/2014/main" id="{DFF13BA6-E3A3-CC48-F1AA-465A4EFE32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99"/>
              <a:ext cx="3296" cy="2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3" name="Text Box 3">
              <a:extLst>
                <a:ext uri="{FF2B5EF4-FFF2-40B4-BE49-F238E27FC236}">
                  <a16:creationId xmlns:a16="http://schemas.microsoft.com/office/drawing/2014/main" id="{84DFE241-243B-D5C7-D270-1C48DD9C5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2"/>
              <a:ext cx="5760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La differenza tra i livelli di energia dello stato di base e lo stato di transizione è detta</a:t>
              </a:r>
              <a:r>
                <a: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ENERGIA DI ATTIVAZIONE</a:t>
              </a:r>
            </a:p>
          </p:txBody>
        </p:sp>
        <p:sp>
          <p:nvSpPr>
            <p:cNvPr id="5124" name="Text Box 4">
              <a:extLst>
                <a:ext uri="{FF2B5EF4-FFF2-40B4-BE49-F238E27FC236}">
                  <a16:creationId xmlns:a16="http://schemas.microsoft.com/office/drawing/2014/main" id="{8C3ADD47-55D0-3444-7E83-BBAC4234F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960"/>
              <a:ext cx="5760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La velocità di una reazione dipende da questa energia di attivazione: una elevata energia di attivazione corrisponde ad una bassa velocità della reazione</a:t>
              </a:r>
            </a:p>
          </p:txBody>
        </p:sp>
        <p:sp>
          <p:nvSpPr>
            <p:cNvPr id="5125" name="Text Box 5">
              <a:extLst>
                <a:ext uri="{FF2B5EF4-FFF2-40B4-BE49-F238E27FC236}">
                  <a16:creationId xmlns:a16="http://schemas.microsoft.com/office/drawing/2014/main" id="{F25D8D3C-5B86-21EC-0ECE-9B030E277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632"/>
              <a:ext cx="2352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di attivazione può essere abbassata aggiungendo un CATALIZZATORE</a:t>
              </a:r>
              <a:endParaRPr lang="it-IT" altLang="it-IT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26" name="Text Box 6">
              <a:extLst>
                <a:ext uri="{FF2B5EF4-FFF2-40B4-BE49-F238E27FC236}">
                  <a16:creationId xmlns:a16="http://schemas.microsoft.com/office/drawing/2014/main" id="{99B9C168-6B10-E68C-4F49-5764B2864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579"/>
              <a:ext cx="2448" cy="16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IL CATALIZZATORE AUMENTA LA VELOCITA</a:t>
              </a:r>
              <a:r>
                <a:rPr lang="ja-JP" altLang="it-IT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DELLA REAZIONE ABBASSANDO L</a:t>
              </a:r>
              <a:r>
                <a:rPr lang="ja-JP" altLang="it-IT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DI ATTIVAZIONE</a:t>
              </a:r>
              <a:endParaRPr lang="it-IT" altLang="it-IT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72B65E4D-DB36-AD66-EB16-D9D76ED67AA8}"/>
              </a:ext>
            </a:extLst>
          </p:cNvPr>
          <p:cNvGrpSpPr>
            <a:grpSpLocks/>
          </p:cNvGrpSpPr>
          <p:nvPr/>
        </p:nvGrpSpPr>
        <p:grpSpPr bwMode="auto">
          <a:xfrm>
            <a:off x="-36513" y="-26988"/>
            <a:ext cx="9072563" cy="6750051"/>
            <a:chOff x="-23" y="-17"/>
            <a:chExt cx="5715" cy="4252"/>
          </a:xfrm>
        </p:grpSpPr>
        <p:pic>
          <p:nvPicPr>
            <p:cNvPr id="48130" name="Picture 4" descr="slide0005_image021">
              <a:extLst>
                <a:ext uri="{FF2B5EF4-FFF2-40B4-BE49-F238E27FC236}">
                  <a16:creationId xmlns:a16="http://schemas.microsoft.com/office/drawing/2014/main" id="{87C66075-B695-41EE-77AC-8E27050C0F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" y="663"/>
              <a:ext cx="5627" cy="2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05" name="Text Box 5">
              <a:extLst>
                <a:ext uri="{FF2B5EF4-FFF2-40B4-BE49-F238E27FC236}">
                  <a16:creationId xmlns:a16="http://schemas.microsoft.com/office/drawing/2014/main" id="{B799BD86-8A84-3B6C-CC3E-6BDDF11C4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17"/>
              <a:ext cx="5556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defRPr/>
              </a:pPr>
              <a:r>
                <a:rPr lang="it-IT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a) L</a:t>
              </a:r>
              <a:r>
                <a:rPr lang="ja-JP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aumento della temperatura aumenta l</a:t>
              </a:r>
              <a:r>
                <a:rPr lang="ja-JP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media delle molecole dei reagenti, diminuendo così l</a:t>
              </a:r>
              <a:r>
                <a:rPr lang="ja-JP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necessaria per raggiungere lo stato di transizione</a:t>
              </a:r>
              <a:endParaRPr lang="it-IT" altLang="it-IT" sz="2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206" name="Text Box 6">
              <a:extLst>
                <a:ext uri="{FF2B5EF4-FFF2-40B4-BE49-F238E27FC236}">
                  <a16:creationId xmlns:a16="http://schemas.microsoft.com/office/drawing/2014/main" id="{F6102A58-01C9-F90E-A5A4-4B50456C6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113"/>
              <a:ext cx="5602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defRPr/>
              </a:pPr>
              <a:r>
                <a:rPr lang="it-IT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b) Il catalizzatore funziona abbassando l</a:t>
              </a:r>
              <a:r>
                <a:rPr lang="ja-JP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di attivazione (valore minimo di energia che le molecole debbono possedere per poter reagire)  piuttosto che aumentando l</a:t>
              </a:r>
              <a:r>
                <a:rPr lang="ja-JP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media dei reagenti. </a:t>
              </a:r>
              <a:endParaRPr lang="it-IT" altLang="it-IT" sz="2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208" name="Rectangle 8">
              <a:extLst>
                <a:ext uri="{FF2B5EF4-FFF2-40B4-BE49-F238E27FC236}">
                  <a16:creationId xmlns:a16="http://schemas.microsoft.com/office/drawing/2014/main" id="{FF0E673A-7AC2-9CE9-A977-031EA2AC4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3" y="3793"/>
              <a:ext cx="5534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Di conseguenza un numero ben più alto di molecole di substrato è in grado di raggiungere lo stato di transizione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>
            <a:extLst>
              <a:ext uri="{FF2B5EF4-FFF2-40B4-BE49-F238E27FC236}">
                <a16:creationId xmlns:a16="http://schemas.microsoft.com/office/drawing/2014/main" id="{01523230-2103-B2F8-EAE2-CFDE94A9307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220200" cy="6543675"/>
            <a:chOff x="0" y="0"/>
            <a:chExt cx="5808" cy="4122"/>
          </a:xfrm>
        </p:grpSpPr>
        <p:sp>
          <p:nvSpPr>
            <p:cNvPr id="6146" name="Text Box 2">
              <a:extLst>
                <a:ext uri="{FF2B5EF4-FFF2-40B4-BE49-F238E27FC236}">
                  <a16:creationId xmlns:a16="http://schemas.microsoft.com/office/drawing/2014/main" id="{F9FFC47A-ADC8-EC21-0A5D-DBDAF3016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664" cy="1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Gli </a:t>
              </a:r>
              <a:r>
                <a: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ENZIMI</a:t>
              </a: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aumentano la velocità della reazione abbassando l</a:t>
              </a:r>
              <a:r>
                <a:rPr lang="ja-JP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energia di attivazione: ciò è legato alla formazione di un composto intermedio </a:t>
              </a:r>
              <a:r>
                <a:rPr lang="it-IT" altLang="ja-JP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ENZIMA-SUBSTRATO</a:t>
              </a:r>
              <a:r>
                <a:rPr lang="it-IT" altLang="ja-JP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</a:t>
              </a:r>
              <a:endParaRPr lang="it-IT" altLang="it-IT" sz="28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50179" name="Group 28">
              <a:extLst>
                <a:ext uri="{FF2B5EF4-FFF2-40B4-BE49-F238E27FC236}">
                  <a16:creationId xmlns:a16="http://schemas.microsoft.com/office/drawing/2014/main" id="{F25254B4-8538-2CF9-A8B5-21F947924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13"/>
              <a:ext cx="5760" cy="615"/>
              <a:chOff x="0" y="1200"/>
              <a:chExt cx="5760" cy="615"/>
            </a:xfrm>
          </p:grpSpPr>
          <p:sp>
            <p:nvSpPr>
              <p:cNvPr id="6150" name="Text Box 6">
                <a:extLst>
                  <a:ext uri="{FF2B5EF4-FFF2-40B4-BE49-F238E27FC236}">
                    <a16:creationId xmlns:a16="http://schemas.microsoft.com/office/drawing/2014/main" id="{100F2D41-8AC4-3BE3-9497-261ECA8D6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200"/>
                <a:ext cx="110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P </a:t>
                </a:r>
              </a:p>
            </p:txBody>
          </p:sp>
          <p:grpSp>
            <p:nvGrpSpPr>
              <p:cNvPr id="50202" name="Group 26">
                <a:extLst>
                  <a:ext uri="{FF2B5EF4-FFF2-40B4-BE49-F238E27FC236}">
                    <a16:creationId xmlns:a16="http://schemas.microsoft.com/office/drawing/2014/main" id="{65390558-7187-E869-50DE-5EBBDFA102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0"/>
                <a:ext cx="5760" cy="615"/>
                <a:chOff x="0" y="1344"/>
                <a:chExt cx="5760" cy="615"/>
              </a:xfrm>
            </p:grpSpPr>
            <p:sp>
              <p:nvSpPr>
                <p:cNvPr id="6147" name="Text Box 3">
                  <a:extLst>
                    <a:ext uri="{FF2B5EF4-FFF2-40B4-BE49-F238E27FC236}">
                      <a16:creationId xmlns:a16="http://schemas.microsoft.com/office/drawing/2014/main" id="{81619CF9-0124-9BE3-052A-05D84FB79A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1344"/>
                  <a:ext cx="1632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La reazione </a:t>
                  </a:r>
                  <a:r>
                    <a:rPr lang="it-IT" altLang="it-IT" sz="2800"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S</a:t>
                  </a:r>
                </a:p>
              </p:txBody>
            </p:sp>
            <p:sp>
              <p:nvSpPr>
                <p:cNvPr id="6148" name="AutoShape 4">
                  <a:extLst>
                    <a:ext uri="{FF2B5EF4-FFF2-40B4-BE49-F238E27FC236}">
                      <a16:creationId xmlns:a16="http://schemas.microsoft.com/office/drawing/2014/main" id="{B8E2DA38-F51E-EE59-1093-7DA7A0DA1D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440"/>
                  <a:ext cx="480" cy="48"/>
                </a:xfrm>
                <a:prstGeom prst="rightArrow">
                  <a:avLst>
                    <a:gd name="adj1" fmla="val 50000"/>
                    <a:gd name="adj2" fmla="val 250000"/>
                  </a:avLst>
                </a:prstGeom>
                <a:solidFill>
                  <a:srgbClr val="FFFF00"/>
                </a:soli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149" name="AutoShape 5">
                  <a:extLst>
                    <a:ext uri="{FF2B5EF4-FFF2-40B4-BE49-F238E27FC236}">
                      <a16:creationId xmlns:a16="http://schemas.microsoft.com/office/drawing/2014/main" id="{5D0E4644-92A8-EDA5-22D9-0A59985C6F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536"/>
                  <a:ext cx="480" cy="48"/>
                </a:xfrm>
                <a:prstGeom prst="leftArrow">
                  <a:avLst>
                    <a:gd name="adj1" fmla="val 50000"/>
                    <a:gd name="adj2" fmla="val 250000"/>
                  </a:avLst>
                </a:prstGeom>
                <a:solidFill>
                  <a:srgbClr val="FFFF00"/>
                </a:soli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151" name="Text Box 7">
                  <a:extLst>
                    <a:ext uri="{FF2B5EF4-FFF2-40B4-BE49-F238E27FC236}">
                      <a16:creationId xmlns:a16="http://schemas.microsoft.com/office/drawing/2014/main" id="{C4E42DB7-8629-F0A5-5727-ACA9020C92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2" y="1344"/>
                  <a:ext cx="3408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viene di fatto frazionata in </a:t>
                  </a:r>
                </a:p>
              </p:txBody>
            </p:sp>
            <p:sp>
              <p:nvSpPr>
                <p:cNvPr id="6152" name="Text Box 8">
                  <a:extLst>
                    <a:ext uri="{FF2B5EF4-FFF2-40B4-BE49-F238E27FC236}">
                      <a16:creationId xmlns:a16="http://schemas.microsoft.com/office/drawing/2014/main" id="{BF33769C-6F6B-84E4-760A-07274885D2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1632"/>
                  <a:ext cx="5760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Comic Sans MS" panose="030F0902030302020204" pitchFamily="66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it-IT" altLang="it-IT" sz="28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una sequenza di reazioni intermedie:</a:t>
                  </a:r>
                </a:p>
              </p:txBody>
            </p:sp>
          </p:grpSp>
        </p:grpSp>
        <p:grpSp>
          <p:nvGrpSpPr>
            <p:cNvPr id="50180" name="Group 22">
              <a:extLst>
                <a:ext uri="{FF2B5EF4-FFF2-40B4-BE49-F238E27FC236}">
                  <a16:creationId xmlns:a16="http://schemas.microsoft.com/office/drawing/2014/main" id="{6F4DE6A3-8377-F613-65D6-9FD004A22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776"/>
              <a:ext cx="1584" cy="366"/>
              <a:chOff x="0" y="2073"/>
              <a:chExt cx="1584" cy="366"/>
            </a:xfrm>
          </p:grpSpPr>
          <p:sp>
            <p:nvSpPr>
              <p:cNvPr id="6153" name="Text Box 9">
                <a:extLst>
                  <a:ext uri="{FF2B5EF4-FFF2-40B4-BE49-F238E27FC236}">
                    <a16:creationId xmlns:a16="http://schemas.microsoft.com/office/drawing/2014/main" id="{9CC27DA0-1FBB-0FA0-094F-96CEF066B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112"/>
                <a:ext cx="62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E+S</a:t>
                </a:r>
              </a:p>
            </p:txBody>
          </p:sp>
          <p:sp>
            <p:nvSpPr>
              <p:cNvPr id="6154" name="AutoShape 10">
                <a:extLst>
                  <a:ext uri="{FF2B5EF4-FFF2-40B4-BE49-F238E27FC236}">
                    <a16:creationId xmlns:a16="http://schemas.microsoft.com/office/drawing/2014/main" id="{1CB9F509-D81D-01B4-96CF-2ECFF9A5F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160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56" name="AutoShape 12">
                <a:extLst>
                  <a:ext uri="{FF2B5EF4-FFF2-40B4-BE49-F238E27FC236}">
                    <a16:creationId xmlns:a16="http://schemas.microsoft.com/office/drawing/2014/main" id="{9368023F-BA14-4B91-709D-549892B09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256"/>
                <a:ext cx="384" cy="96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57" name="Text Box 13">
                <a:extLst>
                  <a:ext uri="{FF2B5EF4-FFF2-40B4-BE49-F238E27FC236}">
                    <a16:creationId xmlns:a16="http://schemas.microsoft.com/office/drawing/2014/main" id="{A3EB5CBB-7323-4C78-8622-3ECE7BF293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2073"/>
                <a:ext cx="672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ES</a:t>
                </a:r>
              </a:p>
            </p:txBody>
          </p:sp>
        </p:grpSp>
        <p:grpSp>
          <p:nvGrpSpPr>
            <p:cNvPr id="50181" name="Group 23">
              <a:extLst>
                <a:ext uri="{FF2B5EF4-FFF2-40B4-BE49-F238E27FC236}">
                  <a16:creationId xmlns:a16="http://schemas.microsoft.com/office/drawing/2014/main" id="{E383BB3C-583E-0FBF-C732-E537A2D46C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776"/>
              <a:ext cx="1344" cy="327"/>
              <a:chOff x="1680" y="2064"/>
              <a:chExt cx="1344" cy="327"/>
            </a:xfrm>
          </p:grpSpPr>
          <p:sp>
            <p:nvSpPr>
              <p:cNvPr id="6158" name="Text Box 14">
                <a:extLst>
                  <a:ext uri="{FF2B5EF4-FFF2-40B4-BE49-F238E27FC236}">
                    <a16:creationId xmlns:a16="http://schemas.microsoft.com/office/drawing/2014/main" id="{F22D0477-EB2B-5E95-5985-B9722BED22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2064"/>
                <a:ext cx="672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ES</a:t>
                </a:r>
              </a:p>
            </p:txBody>
          </p:sp>
          <p:sp>
            <p:nvSpPr>
              <p:cNvPr id="6159" name="AutoShape 15">
                <a:extLst>
                  <a:ext uri="{FF2B5EF4-FFF2-40B4-BE49-F238E27FC236}">
                    <a16:creationId xmlns:a16="http://schemas.microsoft.com/office/drawing/2014/main" id="{BF431FC3-4970-E214-A6B2-15893BCAA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112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60" name="AutoShape 16">
                <a:extLst>
                  <a:ext uri="{FF2B5EF4-FFF2-40B4-BE49-F238E27FC236}">
                    <a16:creationId xmlns:a16="http://schemas.microsoft.com/office/drawing/2014/main" id="{9CF267E5-33F1-1A1E-7B02-850ADDE02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208"/>
                <a:ext cx="384" cy="96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61" name="Text Box 17">
                <a:extLst>
                  <a:ext uri="{FF2B5EF4-FFF2-40B4-BE49-F238E27FC236}">
                    <a16:creationId xmlns:a16="http://schemas.microsoft.com/office/drawing/2014/main" id="{D68FB886-33AE-C0CC-0124-D92060056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2064"/>
                <a:ext cx="5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EP</a:t>
                </a:r>
              </a:p>
            </p:txBody>
          </p:sp>
        </p:grpSp>
        <p:grpSp>
          <p:nvGrpSpPr>
            <p:cNvPr id="50182" name="Group 24">
              <a:extLst>
                <a:ext uri="{FF2B5EF4-FFF2-40B4-BE49-F238E27FC236}">
                  <a16:creationId xmlns:a16="http://schemas.microsoft.com/office/drawing/2014/main" id="{421E308C-B8A8-8E08-7F0C-34226CB74B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776"/>
              <a:ext cx="1680" cy="336"/>
              <a:chOff x="3120" y="2064"/>
              <a:chExt cx="1680" cy="336"/>
            </a:xfrm>
          </p:grpSpPr>
          <p:sp>
            <p:nvSpPr>
              <p:cNvPr id="6162" name="Text Box 18">
                <a:extLst>
                  <a:ext uri="{FF2B5EF4-FFF2-40B4-BE49-F238E27FC236}">
                    <a16:creationId xmlns:a16="http://schemas.microsoft.com/office/drawing/2014/main" id="{8F576434-6CEB-A213-65E5-B96ACC7E98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064"/>
                <a:ext cx="38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EP</a:t>
                </a:r>
              </a:p>
            </p:txBody>
          </p:sp>
          <p:sp>
            <p:nvSpPr>
              <p:cNvPr id="6163" name="AutoShape 19">
                <a:extLst>
                  <a:ext uri="{FF2B5EF4-FFF2-40B4-BE49-F238E27FC236}">
                    <a16:creationId xmlns:a16="http://schemas.microsoft.com/office/drawing/2014/main" id="{59CB71E7-E231-93D3-EF75-F32CB6A04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112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64" name="AutoShape 20">
                <a:extLst>
                  <a:ext uri="{FF2B5EF4-FFF2-40B4-BE49-F238E27FC236}">
                    <a16:creationId xmlns:a16="http://schemas.microsoft.com/office/drawing/2014/main" id="{A591D656-DC9D-0FE6-3DEF-07E1D6CCE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208"/>
                <a:ext cx="384" cy="96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65" name="Text Box 21">
                <a:extLst>
                  <a:ext uri="{FF2B5EF4-FFF2-40B4-BE49-F238E27FC236}">
                    <a16:creationId xmlns:a16="http://schemas.microsoft.com/office/drawing/2014/main" id="{E109EA4C-214B-327F-A7B6-E12F54264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2073"/>
                <a:ext cx="86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E+P</a:t>
                </a:r>
              </a:p>
            </p:txBody>
          </p:sp>
        </p:grpSp>
        <p:pic>
          <p:nvPicPr>
            <p:cNvPr id="50183" name="Picture 25" descr="cinetica enzimi 3">
              <a:extLst>
                <a:ext uri="{FF2B5EF4-FFF2-40B4-BE49-F238E27FC236}">
                  <a16:creationId xmlns:a16="http://schemas.microsoft.com/office/drawing/2014/main" id="{95F8277F-2582-B794-D4E3-1B251AF66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71"/>
              <a:ext cx="2886" cy="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0184" name="Group 32">
              <a:extLst>
                <a:ext uri="{FF2B5EF4-FFF2-40B4-BE49-F238E27FC236}">
                  <a16:creationId xmlns:a16="http://schemas.microsoft.com/office/drawing/2014/main" id="{5674E5AD-05B6-EF43-4715-ACE6A7FA3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304"/>
              <a:ext cx="2784" cy="1403"/>
              <a:chOff x="2976" y="2112"/>
              <a:chExt cx="2784" cy="1403"/>
            </a:xfrm>
          </p:grpSpPr>
          <p:sp>
            <p:nvSpPr>
              <p:cNvPr id="6171" name="Text Box 27">
                <a:extLst>
                  <a:ext uri="{FF2B5EF4-FFF2-40B4-BE49-F238E27FC236}">
                    <a16:creationId xmlns:a16="http://schemas.microsoft.com/office/drawing/2014/main" id="{7CFA9048-3A62-3BB5-B9A6-A372643616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112"/>
                <a:ext cx="2784" cy="1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ciascuna delle quali ha una propria energia di attivazione fortemente più bassa dell</a:t>
                </a:r>
                <a:r>
                  <a:rPr lang="ja-JP" altLang="it-IT" sz="2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’</a:t>
                </a:r>
                <a:r>
                  <a:rPr lang="it-IT" altLang="ja-JP" sz="280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energia di attivazione </a:t>
                </a:r>
                <a:r>
                  <a:rPr lang="it-IT" altLang="ja-JP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S</a:t>
                </a:r>
                <a:endParaRPr lang="it-IT" altLang="it-IT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173" name="AutoShape 29">
                <a:extLst>
                  <a:ext uri="{FF2B5EF4-FFF2-40B4-BE49-F238E27FC236}">
                    <a16:creationId xmlns:a16="http://schemas.microsoft.com/office/drawing/2014/main" id="{C17B5B86-FE4D-7C3F-2367-D900363FF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264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74" name="AutoShape 30">
                <a:extLst>
                  <a:ext uri="{FF2B5EF4-FFF2-40B4-BE49-F238E27FC236}">
                    <a16:creationId xmlns:a16="http://schemas.microsoft.com/office/drawing/2014/main" id="{8B451EEF-B84A-BC0D-E687-4B6E704A9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360"/>
                <a:ext cx="384" cy="96"/>
              </a:xfrm>
              <a:prstGeom prst="leftArrow">
                <a:avLst>
                  <a:gd name="adj1" fmla="val 50000"/>
                  <a:gd name="adj2" fmla="val 10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6175" name="Text Box 31">
                <a:extLst>
                  <a:ext uri="{FF2B5EF4-FFF2-40B4-BE49-F238E27FC236}">
                    <a16:creationId xmlns:a16="http://schemas.microsoft.com/office/drawing/2014/main" id="{AC2976AC-9F99-E06B-0415-D20BDCB46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3168"/>
                <a:ext cx="5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Comic Sans MS" panose="030F0902030302020204" pitchFamily="66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it-IT" altLang="it-IT" sz="28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P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nzimi generali 1">
            <a:extLst>
              <a:ext uri="{FF2B5EF4-FFF2-40B4-BE49-F238E27FC236}">
                <a16:creationId xmlns:a16="http://schemas.microsoft.com/office/drawing/2014/main" id="{CA0EDD51-8063-EFBA-6F01-DD1ED0875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62000"/>
            <a:ext cx="7021513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2617866-2317-6A91-154B-74980F86206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57200"/>
            <a:ext cx="7772400" cy="5105400"/>
            <a:chOff x="432" y="288"/>
            <a:chExt cx="4896" cy="3216"/>
          </a:xfrm>
        </p:grpSpPr>
        <p:pic>
          <p:nvPicPr>
            <p:cNvPr id="54274" name="Picture 2" descr="enzimi generali">
              <a:extLst>
                <a:ext uri="{FF2B5EF4-FFF2-40B4-BE49-F238E27FC236}">
                  <a16:creationId xmlns:a16="http://schemas.microsoft.com/office/drawing/2014/main" id="{29C00E17-1D4E-0AEE-5729-4DD6D968B5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912"/>
              <a:ext cx="4896" cy="2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9" name="Text Box 3">
              <a:extLst>
                <a:ext uri="{FF2B5EF4-FFF2-40B4-BE49-F238E27FC236}">
                  <a16:creationId xmlns:a16="http://schemas.microsoft.com/office/drawing/2014/main" id="{C5CD0748-DD5C-E8BC-63A9-6496663D6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88"/>
              <a:ext cx="465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4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RIASSUMENDO: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55DEB6E8-1F93-6BC2-31D3-F6994037C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PROPRIETA</a:t>
            </a:r>
            <a:r>
              <a:rPr lang="en-US" altLang="en-US">
                <a:solidFill>
                  <a:srgbClr val="FFFF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 DEGLI ENZIMI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D8B97180-50F9-81AC-1E35-9A24B7F7F1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41438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Siti attivi: </a:t>
            </a: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Sono speciali tasche contenenti catene laterali amminoacidiche che creano una superficie tridimenzionale complementare al substrato</a:t>
            </a:r>
          </a:p>
          <a:p>
            <a:pPr eaLnBrk="1" hangingPunct="1">
              <a:buFontTx/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Il complesso enzima –substrato ES viene convertito in enzima-prodotto EP il quale si dissocia in enzima 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(IMMUTATO) 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e prodotto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Content Placeholder 2">
            <a:extLst>
              <a:ext uri="{FF2B5EF4-FFF2-40B4-BE49-F238E27FC236}">
                <a16:creationId xmlns:a16="http://schemas.microsoft.com/office/drawing/2014/main" id="{2572D11F-973B-43ED-1B36-3DEA0C47C6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4772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Efficienza catalitica:</a:t>
            </a: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La velocita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di una reazione catalizzata puo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essere  dalle 10³ alle 10⁸ superiore ad una non catalizzata</a:t>
            </a:r>
          </a:p>
          <a:p>
            <a:pPr eaLnBrk="1" hangingPunct="1">
              <a:buFontTx/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Il numero di molecole di substrato convertite in prodotto da un enzima e</a:t>
            </a:r>
            <a:r>
              <a:rPr lang="en-US" altLang="en-US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>
                <a:solidFill>
                  <a:schemeClr val="bg1"/>
                </a:solidFill>
                <a:ea typeface="ＭＳ Ｐゴシック" panose="020B0600070205080204" pitchFamily="34" charset="-128"/>
              </a:rPr>
              <a:t> chiamato: </a:t>
            </a:r>
            <a:r>
              <a:rPr lang="en-US" altLang="en-US">
                <a:solidFill>
                  <a:srgbClr val="FFFF00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it-IT">
                <a:solidFill>
                  <a:srgbClr val="FFFF00"/>
                </a:solidFill>
                <a:ea typeface="ＭＳ Ｐゴシック" panose="020B0600070205080204" pitchFamily="34" charset="-128"/>
              </a:rPr>
              <a:t>Numero di turnover</a:t>
            </a:r>
            <a:r>
              <a:rPr lang="en-US" altLang="en-US">
                <a:solidFill>
                  <a:srgbClr val="FFFF00"/>
                </a:solidFill>
                <a:ea typeface="ＭＳ Ｐゴシック" panose="020B0600070205080204" pitchFamily="34" charset="-128"/>
              </a:rPr>
              <a:t>”</a:t>
            </a:r>
            <a:endParaRPr lang="en-US" altLang="it-IT">
              <a:solidFill>
                <a:srgbClr val="FFFF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Content Placeholder 2">
            <a:extLst>
              <a:ext uri="{FF2B5EF4-FFF2-40B4-BE49-F238E27FC236}">
                <a16:creationId xmlns:a16="http://schemas.microsoft.com/office/drawing/2014/main" id="{B4D0F040-ED80-3D5E-8AFC-7AE032741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588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Specificita</a:t>
            </a:r>
            <a:r>
              <a:rPr lang="en-US" altLang="en-US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:</a:t>
            </a:r>
          </a:p>
          <a:p>
            <a:pPr eaLnBrk="1" hangingPunct="1"/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Ogni enzima e</a:t>
            </a:r>
            <a:r>
              <a:rPr lang="en-US" altLang="en-US" sz="23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 altamente specifico, di solito catalizzano una sola reazione chimica</a:t>
            </a:r>
          </a:p>
          <a:p>
            <a:pPr eaLnBrk="1" hangingPunct="1"/>
            <a:endParaRPr lang="en-US" altLang="it-IT" sz="23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it-IT" sz="2300" i="1">
                <a:solidFill>
                  <a:srgbClr val="FFFF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I cofattori:</a:t>
            </a:r>
          </a:p>
          <a:p>
            <a:pPr eaLnBrk="1" hangingPunct="1"/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Sono non proteici, </a:t>
            </a:r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ioni metallici 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come Zn e Fe</a:t>
            </a:r>
          </a:p>
          <a:p>
            <a:pPr eaLnBrk="1" hangingPunct="1">
              <a:buFontTx/>
              <a:buNone/>
            </a:pP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    o</a:t>
            </a:r>
            <a:r>
              <a:rPr lang="en-US" altLang="it-IT" sz="2300">
                <a:ea typeface="ＭＳ Ｐゴシック" panose="020B0600070205080204" pitchFamily="34" charset="-128"/>
              </a:rPr>
              <a:t> </a:t>
            </a:r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molecole organiche (Coenzimi) 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derivanti quasi sempre da vitamine (ES: NAD, FAD, Coenzima A, ecc…)</a:t>
            </a:r>
          </a:p>
          <a:p>
            <a:pPr eaLnBrk="1" hangingPunct="1">
              <a:buFontTx/>
              <a:buNone/>
            </a:pP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Ci sono casi in cui il coenzima e</a:t>
            </a:r>
            <a:r>
              <a:rPr lang="en-US" altLang="en-US" sz="23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 legato saldamente all</a:t>
            </a:r>
            <a:r>
              <a:rPr lang="en-US" altLang="en-US" sz="23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enzima, si parla quindi di </a:t>
            </a:r>
            <a:r>
              <a:rPr lang="en-US" altLang="en-US" sz="2300">
                <a:solidFill>
                  <a:schemeClr val="bg1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gruppo prostetico </a:t>
            </a:r>
            <a:r>
              <a:rPr lang="en-US" altLang="en-US" sz="2300">
                <a:solidFill>
                  <a:schemeClr val="bg1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 (ES: BIOTINA)</a:t>
            </a:r>
          </a:p>
          <a:p>
            <a:pPr eaLnBrk="1" hangingPunct="1">
              <a:buFontTx/>
              <a:buNone/>
            </a:pPr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Regolazione:</a:t>
            </a:r>
          </a:p>
          <a:p>
            <a:pPr eaLnBrk="1" hangingPunct="1">
              <a:buFontTx/>
              <a:buNone/>
            </a:pP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  gli enzimi possono essere attivati o inibiti a seconda delle necessita</a:t>
            </a:r>
            <a:r>
              <a:rPr lang="en-US" altLang="en-US" sz="2300">
                <a:solidFill>
                  <a:schemeClr val="bg1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 della cellula</a:t>
            </a:r>
          </a:p>
          <a:p>
            <a:pPr eaLnBrk="1" hangingPunct="1">
              <a:buFontTx/>
              <a:buNone/>
            </a:pPr>
            <a:r>
              <a:rPr lang="en-US" altLang="it-IT" sz="2300">
                <a:solidFill>
                  <a:srgbClr val="FFFF00"/>
                </a:solidFill>
                <a:ea typeface="ＭＳ Ｐゴシック" panose="020B0600070205080204" pitchFamily="34" charset="-128"/>
              </a:rPr>
              <a:t>Compartimentazione:</a:t>
            </a:r>
          </a:p>
          <a:p>
            <a:pPr eaLnBrk="1" hangingPunct="1">
              <a:buFontTx/>
              <a:buNone/>
            </a:pPr>
            <a:r>
              <a:rPr lang="en-US" altLang="it-IT" sz="2300">
                <a:solidFill>
                  <a:schemeClr val="bg1"/>
                </a:solidFill>
                <a:ea typeface="ＭＳ Ｐゴシック" panose="020B0600070205080204" pitchFamily="34" charset="-128"/>
              </a:rPr>
              <a:t>Molto importante , permette di tenere separati i substrati  o i prodotti tra di loro che possono essere in competizione tra loro</a:t>
            </a:r>
          </a:p>
          <a:p>
            <a:pPr algn="r" eaLnBrk="1" hangingPunct="1">
              <a:buFontTx/>
              <a:buNone/>
            </a:pPr>
            <a:endParaRPr lang="en-US" altLang="it-IT" sz="230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it-IT" sz="23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1" name="Picture 1">
            <a:extLst>
              <a:ext uri="{FF2B5EF4-FFF2-40B4-BE49-F238E27FC236}">
                <a16:creationId xmlns:a16="http://schemas.microsoft.com/office/drawing/2014/main" id="{A36DA78A-5BD6-5D6E-7557-1D049C6BC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1598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2">
            <a:extLst>
              <a:ext uri="{FF2B5EF4-FFF2-40B4-BE49-F238E27FC236}">
                <a16:creationId xmlns:a16="http://schemas.microsoft.com/office/drawing/2014/main" id="{F93E7FE3-7C97-55D9-68A6-8704005E3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4813"/>
            <a:ext cx="8686800" cy="594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2" descr="0503 Enzyme location">
            <a:extLst>
              <a:ext uri="{FF2B5EF4-FFF2-40B4-BE49-F238E27FC236}">
                <a16:creationId xmlns:a16="http://schemas.microsoft.com/office/drawing/2014/main" id="{EC6CE86E-0B36-3A68-8C33-7C5328124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25" y="981075"/>
            <a:ext cx="4117975" cy="576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TextBox 2">
            <a:extLst>
              <a:ext uri="{FF2B5EF4-FFF2-40B4-BE49-F238E27FC236}">
                <a16:creationId xmlns:a16="http://schemas.microsoft.com/office/drawing/2014/main" id="{49F55E27-C48D-E3C1-0ADE-B774C0DAC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152400"/>
            <a:ext cx="64992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4000">
                <a:solidFill>
                  <a:schemeClr val="bg1"/>
                </a:solidFill>
              </a:rPr>
              <a:t>COMPARTIMENTAZIONE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1">
            <a:extLst>
              <a:ext uri="{FF2B5EF4-FFF2-40B4-BE49-F238E27FC236}">
                <a16:creationId xmlns:a16="http://schemas.microsoft.com/office/drawing/2014/main" id="{C0A9F7F3-A2C0-F73F-C360-6B94B20C1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0"/>
          <a:stretch>
            <a:fillRect/>
          </a:stretch>
        </p:blipFill>
        <p:spPr bwMode="auto">
          <a:xfrm>
            <a:off x="0" y="393700"/>
            <a:ext cx="9137650" cy="59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5" name="Picture 1">
            <a:extLst>
              <a:ext uri="{FF2B5EF4-FFF2-40B4-BE49-F238E27FC236}">
                <a16:creationId xmlns:a16="http://schemas.microsoft.com/office/drawing/2014/main" id="{E1C98532-1A53-91A2-6637-FEED2D4B7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95D13739-C1A7-C4EE-80B6-79FD387C35A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34950"/>
            <a:ext cx="8964612" cy="6623050"/>
            <a:chOff x="68" y="28"/>
            <a:chExt cx="5647" cy="4172"/>
          </a:xfrm>
        </p:grpSpPr>
        <p:pic>
          <p:nvPicPr>
            <p:cNvPr id="68610" name="Picture 4" descr="adattameto indotto">
              <a:extLst>
                <a:ext uri="{FF2B5EF4-FFF2-40B4-BE49-F238E27FC236}">
                  <a16:creationId xmlns:a16="http://schemas.microsoft.com/office/drawing/2014/main" id="{2D3C6D96-59A1-304B-3C0D-B0A420D6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" y="953"/>
              <a:ext cx="3874" cy="2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5" name="Text Box 5">
              <a:extLst>
                <a:ext uri="{FF2B5EF4-FFF2-40B4-BE49-F238E27FC236}">
                  <a16:creationId xmlns:a16="http://schemas.microsoft.com/office/drawing/2014/main" id="{BB508BFD-7C6A-EEE6-8F2B-75EF1637D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28"/>
              <a:ext cx="526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MODELLO DELL</a:t>
              </a:r>
              <a:r>
                <a:rPr lang="ja-JP" altLang="it-IT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ADATTAMENTO INDOTTO </a:t>
              </a:r>
              <a:endParaRPr lang="it-IT" altLang="it-IT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6326" name="Text Box 6">
              <a:extLst>
                <a:ext uri="{FF2B5EF4-FFF2-40B4-BE49-F238E27FC236}">
                  <a16:creationId xmlns:a16="http://schemas.microsoft.com/office/drawing/2014/main" id="{E65A53A0-4C7F-8276-1A4E-E5CD6EFCF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" y="346"/>
              <a:ext cx="5647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it-IT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Sia E che S vengono distorti quando si legano tra loro. S viene forzato ad assumere una conformazione vicina allo stato di transizione; E mantiene il substrato in tensione</a:t>
              </a:r>
            </a:p>
          </p:txBody>
        </p:sp>
        <p:sp>
          <p:nvSpPr>
            <p:cNvPr id="56328" name="Text Box 8">
              <a:extLst>
                <a:ext uri="{FF2B5EF4-FFF2-40B4-BE49-F238E27FC236}">
                  <a16:creationId xmlns:a16="http://schemas.microsoft.com/office/drawing/2014/main" id="{788C7612-6644-A811-C051-B64260575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3566"/>
              <a:ext cx="5489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defRPr/>
              </a:pPr>
              <a:r>
                <a:rPr lang="it-IT" altLang="it-IT" sz="2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Inoltre la formazione dei legami transitori fra E e S determina nel substrato una ridistribuzione di elettroni che induce una tensione dei legami, preludente alla rottura di alcuni di essi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C80F7324-A101-FB01-737B-02C2B9993076}"/>
              </a:ext>
            </a:extLst>
          </p:cNvPr>
          <p:cNvGrpSpPr>
            <a:grpSpLocks/>
          </p:cNvGrpSpPr>
          <p:nvPr/>
        </p:nvGrpSpPr>
        <p:grpSpPr bwMode="auto">
          <a:xfrm>
            <a:off x="0" y="204788"/>
            <a:ext cx="9144000" cy="6376987"/>
            <a:chOff x="0" y="129"/>
            <a:chExt cx="5760" cy="4017"/>
          </a:xfrm>
        </p:grpSpPr>
        <p:pic>
          <p:nvPicPr>
            <p:cNvPr id="70658" name="Picture 2" descr="Enzimi 14">
              <a:extLst>
                <a:ext uri="{FF2B5EF4-FFF2-40B4-BE49-F238E27FC236}">
                  <a16:creationId xmlns:a16="http://schemas.microsoft.com/office/drawing/2014/main" id="{2518DEF9-777B-17D5-E7EB-B976F9BD69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129"/>
              <a:ext cx="4185" cy="2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1" name="Text Box 5">
              <a:extLst>
                <a:ext uri="{FF2B5EF4-FFF2-40B4-BE49-F238E27FC236}">
                  <a16:creationId xmlns:a16="http://schemas.microsoft.com/office/drawing/2014/main" id="{391A7195-6742-F874-7BD0-B2071C0C7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168"/>
              <a:ext cx="5760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La modificazione conformazionale può consentire la formazione di interazione deboli addizionali con lo stato di transizione; in ogni caso la nuova conformazione esalta le proprietà catalitiche dell</a:t>
              </a:r>
              <a:r>
                <a:rPr lang="ja-JP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’</a:t>
              </a:r>
              <a:r>
                <a:rPr lang="it-IT" altLang="ja-JP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Enzima</a:t>
              </a:r>
              <a:endParaRPr lang="it-IT" altLang="it-IT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5" name="Picture 1">
            <a:extLst>
              <a:ext uri="{FF2B5EF4-FFF2-40B4-BE49-F238E27FC236}">
                <a16:creationId xmlns:a16="http://schemas.microsoft.com/office/drawing/2014/main" id="{907131D3-FAE1-104F-F9B4-FD9614929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"/>
            <a:ext cx="9144000" cy="645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42E2033F-B641-DF04-0398-A3FB2E2BC4E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76200"/>
            <a:ext cx="8915400" cy="6781800"/>
            <a:chOff x="144" y="48"/>
            <a:chExt cx="5616" cy="4272"/>
          </a:xfrm>
        </p:grpSpPr>
        <p:pic>
          <p:nvPicPr>
            <p:cNvPr id="73730" name="Picture 2" descr="Enzimi 21">
              <a:extLst>
                <a:ext uri="{FF2B5EF4-FFF2-40B4-BE49-F238E27FC236}">
                  <a16:creationId xmlns:a16="http://schemas.microsoft.com/office/drawing/2014/main" id="{E5FE31EA-84D7-2A56-130F-AC1BB5C3F1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" y="600"/>
              <a:ext cx="5314" cy="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75" name="Text Box 3">
              <a:extLst>
                <a:ext uri="{FF2B5EF4-FFF2-40B4-BE49-F238E27FC236}">
                  <a16:creationId xmlns:a16="http://schemas.microsoft.com/office/drawing/2014/main" id="{27BF684F-E587-2D00-7E91-74886C547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48"/>
              <a:ext cx="561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Un Enzima deve essere complementare allo stato di transizione della reazione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C4E0AF-E504-4520-460C-0852FC3F129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92088"/>
            <a:ext cx="7620000" cy="6665912"/>
            <a:chOff x="768" y="121"/>
            <a:chExt cx="4800" cy="4199"/>
          </a:xfrm>
        </p:grpSpPr>
        <p:pic>
          <p:nvPicPr>
            <p:cNvPr id="102402" name="Picture 3" descr="Enzimi 15">
              <a:extLst>
                <a:ext uri="{FF2B5EF4-FFF2-40B4-BE49-F238E27FC236}">
                  <a16:creationId xmlns:a16="http://schemas.microsoft.com/office/drawing/2014/main" id="{039B80C0-8F30-1C72-B27D-82CAE7407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21"/>
              <a:ext cx="2412" cy="4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32" name="Text Box 4">
              <a:extLst>
                <a:ext uri="{FF2B5EF4-FFF2-40B4-BE49-F238E27FC236}">
                  <a16:creationId xmlns:a16="http://schemas.microsoft.com/office/drawing/2014/main" id="{B17D28C7-63AC-2F8B-B821-070B2462A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660"/>
              <a:ext cx="2160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28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Vicinanza e orientamento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B5BB46-EC96-2D67-FBB4-CAA67A21322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0"/>
            <a:ext cx="8763000" cy="6907213"/>
            <a:chOff x="240" y="0"/>
            <a:chExt cx="5520" cy="4351"/>
          </a:xfrm>
        </p:grpSpPr>
        <p:pic>
          <p:nvPicPr>
            <p:cNvPr id="104450" name="Picture 3" descr="Enzimi 13">
              <a:extLst>
                <a:ext uri="{FF2B5EF4-FFF2-40B4-BE49-F238E27FC236}">
                  <a16:creationId xmlns:a16="http://schemas.microsoft.com/office/drawing/2014/main" id="{302FA0B4-6C33-A131-A6A2-E04AB90C3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0"/>
              <a:ext cx="2049" cy="4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56" name="Text Box 4">
              <a:extLst>
                <a:ext uri="{FF2B5EF4-FFF2-40B4-BE49-F238E27FC236}">
                  <a16:creationId xmlns:a16="http://schemas.microsoft.com/office/drawing/2014/main" id="{3270BAB3-CD9C-370D-4A5C-972067640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21"/>
              <a:ext cx="2784" cy="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it-IT" altLang="it-IT" sz="32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COMPLESSO ENZIMA-SUBSTRATO</a:t>
              </a:r>
            </a:p>
          </p:txBody>
        </p:sp>
        <p:sp>
          <p:nvSpPr>
            <p:cNvPr id="74757" name="Text Box 5">
              <a:extLst>
                <a:ext uri="{FF2B5EF4-FFF2-40B4-BE49-F238E27FC236}">
                  <a16:creationId xmlns:a16="http://schemas.microsoft.com/office/drawing/2014/main" id="{726837EB-0F0F-23FB-EF84-CFC200DC2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536"/>
              <a:ext cx="3408" cy="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defRPr/>
              </a:pP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Le interazioni E-S sostituiscono la maggior parte dei legami a idrogeno che esistevano tra la molecola del substrato e H</a:t>
              </a:r>
              <a:r>
                <a:rPr lang="it-IT" altLang="it-IT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r>
                <a:rPr lang="it-IT" altLang="it-IT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 portando a una desolvatazione del substrato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mic Sans MS" pitchFamily="66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8274</TotalTime>
  <Words>1082</Words>
  <Application>Microsoft Macintosh PowerPoint</Application>
  <PresentationFormat>Presentazione su schermo (4:3)</PresentationFormat>
  <Paragraphs>116</Paragraphs>
  <Slides>33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40" baseType="lpstr">
      <vt:lpstr>ＭＳ Ｐゴシック</vt:lpstr>
      <vt:lpstr>Comic Sans MS</vt:lpstr>
      <vt:lpstr>Helvetica Neue</vt:lpstr>
      <vt:lpstr>Helvetica Neue LT Std 55 Roman</vt:lpstr>
      <vt:lpstr>Times New Roman</vt:lpstr>
      <vt:lpstr>Wingdings</vt:lpstr>
      <vt:lpstr>Struttura predefinita</vt:lpstr>
      <vt:lpstr>Presentazione standard di PowerPoint</vt:lpstr>
      <vt:lpstr>GLI ENZIMI</vt:lpstr>
      <vt:lpstr>NOMENCLATURA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PROPRIETA’ DEGLI ENZIMI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scienze biomediche</dc:creator>
  <cp:lastModifiedBy>Domenico D'ARCA</cp:lastModifiedBy>
  <cp:revision>165</cp:revision>
  <dcterms:created xsi:type="dcterms:W3CDTF">2003-03-04T12:50:35Z</dcterms:created>
  <dcterms:modified xsi:type="dcterms:W3CDTF">2024-10-29T16:39:35Z</dcterms:modified>
</cp:coreProperties>
</file>